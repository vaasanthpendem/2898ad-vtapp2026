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charset="1" panose="00000500000000000000"/>
      <p:regular r:id="rId16"/>
    </p:embeddedFont>
    <p:embeddedFont>
      <p:font typeface="Montserrat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32.png" Type="http://schemas.openxmlformats.org/officeDocument/2006/relationships/image"/><Relationship Id="rId8" Target="../media/image3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2041103" y="1814504"/>
            <a:ext cx="5015807" cy="7127257"/>
          </a:xfrm>
          <a:custGeom>
            <a:avLst/>
            <a:gdLst/>
            <a:ahLst/>
            <a:cxnLst/>
            <a:rect r="r" b="b" t="t" l="l"/>
            <a:pathLst>
              <a:path h="7127257" w="5015807">
                <a:moveTo>
                  <a:pt x="0" y="0"/>
                </a:moveTo>
                <a:lnTo>
                  <a:pt x="5015807" y="0"/>
                </a:lnTo>
                <a:lnTo>
                  <a:pt x="5015807" y="7127257"/>
                </a:lnTo>
                <a:lnTo>
                  <a:pt x="0" y="7127257"/>
                </a:lnTo>
                <a:lnTo>
                  <a:pt x="0" y="0"/>
                </a:lnTo>
                <a:close/>
              </a:path>
            </a:pathLst>
          </a:custGeom>
          <a:blipFill>
            <a:blip r:embed="rId3"/>
            <a:stretch>
              <a:fillRect l="0" t="0" r="0" b="0"/>
            </a:stretch>
          </a:blipFill>
        </p:spPr>
      </p:sp>
      <p:sp>
        <p:nvSpPr>
          <p:cNvPr name="Freeform 4" id="4"/>
          <p:cNvSpPr/>
          <p:nvPr/>
        </p:nvSpPr>
        <p:spPr>
          <a:xfrm flipH="false" flipV="false" rot="0">
            <a:off x="235415" y="1815143"/>
            <a:ext cx="13458886" cy="7436035"/>
          </a:xfrm>
          <a:custGeom>
            <a:avLst/>
            <a:gdLst/>
            <a:ahLst/>
            <a:cxnLst/>
            <a:rect r="r" b="b" t="t" l="l"/>
            <a:pathLst>
              <a:path h="7436035" w="13458886">
                <a:moveTo>
                  <a:pt x="0" y="0"/>
                </a:moveTo>
                <a:lnTo>
                  <a:pt x="13458886" y="0"/>
                </a:lnTo>
                <a:lnTo>
                  <a:pt x="13458886" y="7436034"/>
                </a:lnTo>
                <a:lnTo>
                  <a:pt x="0" y="7436034"/>
                </a:lnTo>
                <a:lnTo>
                  <a:pt x="0" y="0"/>
                </a:lnTo>
                <a:close/>
              </a:path>
            </a:pathLst>
          </a:custGeom>
          <a:blipFill>
            <a:blip r:embed="rId4"/>
            <a:stretch>
              <a:fillRect l="0" t="0" r="0" b="0"/>
            </a:stretch>
          </a:blipFill>
        </p:spPr>
      </p:sp>
      <p:grpSp>
        <p:nvGrpSpPr>
          <p:cNvPr name="Group 5" id="5"/>
          <p:cNvGrpSpPr/>
          <p:nvPr/>
        </p:nvGrpSpPr>
        <p:grpSpPr>
          <a:xfrm rot="0">
            <a:off x="12421162" y="2531756"/>
            <a:ext cx="4507742" cy="5630313"/>
            <a:chOff x="0" y="0"/>
            <a:chExt cx="718122" cy="896958"/>
          </a:xfrm>
        </p:grpSpPr>
        <p:sp>
          <p:nvSpPr>
            <p:cNvPr name="Freeform 6" id="6"/>
            <p:cNvSpPr/>
            <p:nvPr/>
          </p:nvSpPr>
          <p:spPr>
            <a:xfrm flipH="false" flipV="false" rot="0">
              <a:off x="0" y="0"/>
              <a:ext cx="718122" cy="896958"/>
            </a:xfrm>
            <a:custGeom>
              <a:avLst/>
              <a:gdLst/>
              <a:ahLst/>
              <a:cxnLst/>
              <a:rect r="r" b="b" t="t" l="l"/>
              <a:pathLst>
                <a:path h="896958" w="718122">
                  <a:moveTo>
                    <a:pt x="0" y="0"/>
                  </a:moveTo>
                  <a:lnTo>
                    <a:pt x="718122" y="0"/>
                  </a:lnTo>
                  <a:lnTo>
                    <a:pt x="718122" y="896958"/>
                  </a:lnTo>
                  <a:lnTo>
                    <a:pt x="0" y="896958"/>
                  </a:lnTo>
                  <a:close/>
                </a:path>
              </a:pathLst>
            </a:custGeom>
            <a:blipFill>
              <a:blip r:embed="rId5"/>
              <a:stretch>
                <a:fillRect l="0" t="-38" r="0" b="-38"/>
              </a:stretch>
            </a:blipFill>
          </p:spPr>
        </p:sp>
      </p:grpSp>
      <p:sp>
        <p:nvSpPr>
          <p:cNvPr name="Freeform 7" id="7"/>
          <p:cNvSpPr/>
          <p:nvPr/>
        </p:nvSpPr>
        <p:spPr>
          <a:xfrm flipH="false" flipV="false" rot="0">
            <a:off x="2078631" y="642302"/>
            <a:ext cx="649831" cy="759680"/>
          </a:xfrm>
          <a:custGeom>
            <a:avLst/>
            <a:gdLst/>
            <a:ahLst/>
            <a:cxnLst/>
            <a:rect r="r" b="b" t="t" l="l"/>
            <a:pathLst>
              <a:path h="759680" w="649831">
                <a:moveTo>
                  <a:pt x="0" y="0"/>
                </a:moveTo>
                <a:lnTo>
                  <a:pt x="649831" y="0"/>
                </a:lnTo>
                <a:lnTo>
                  <a:pt x="649831" y="759680"/>
                </a:lnTo>
                <a:lnTo>
                  <a:pt x="0" y="759680"/>
                </a:lnTo>
                <a:lnTo>
                  <a:pt x="0" y="0"/>
                </a:lnTo>
                <a:close/>
              </a:path>
            </a:pathLst>
          </a:custGeom>
          <a:blipFill>
            <a:blip r:embed="rId6"/>
            <a:stretch>
              <a:fillRect l="0" t="0" r="0" b="0"/>
            </a:stretch>
          </a:blipFill>
        </p:spPr>
      </p:sp>
      <p:sp>
        <p:nvSpPr>
          <p:cNvPr name="TextBox 8" id="8"/>
          <p:cNvSpPr txBox="true"/>
          <p:nvPr/>
        </p:nvSpPr>
        <p:spPr>
          <a:xfrm rot="0">
            <a:off x="16010148" y="863275"/>
            <a:ext cx="1249152"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NEXT SLIDE</a:t>
            </a:r>
          </a:p>
        </p:txBody>
      </p:sp>
      <p:sp>
        <p:nvSpPr>
          <p:cNvPr name="TextBox 9" id="9"/>
          <p:cNvSpPr txBox="true"/>
          <p:nvPr/>
        </p:nvSpPr>
        <p:spPr>
          <a:xfrm rot="0">
            <a:off x="2078860" y="9611392"/>
            <a:ext cx="1058601"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PAGE 01</a:t>
            </a:r>
          </a:p>
        </p:txBody>
      </p:sp>
      <p:sp>
        <p:nvSpPr>
          <p:cNvPr name="TextBox 10" id="10"/>
          <p:cNvSpPr txBox="true"/>
          <p:nvPr/>
        </p:nvSpPr>
        <p:spPr>
          <a:xfrm rot="0">
            <a:off x="2887792" y="745210"/>
            <a:ext cx="1249152" cy="550446"/>
          </a:xfrm>
          <a:prstGeom prst="rect">
            <a:avLst/>
          </a:prstGeom>
        </p:spPr>
        <p:txBody>
          <a:bodyPr anchor="t" rtlCol="false" tIns="0" lIns="0" bIns="0" rIns="0">
            <a:spAutoFit/>
          </a:bodyPr>
          <a:lstStyle/>
          <a:p>
            <a:pPr algn="l" marL="0" indent="0" lvl="0">
              <a:lnSpc>
                <a:spcPts val="2210"/>
              </a:lnSpc>
            </a:pPr>
            <a:r>
              <a:rPr lang="en-US" sz="1578">
                <a:solidFill>
                  <a:srgbClr val="FFFFFF"/>
                </a:solidFill>
                <a:latin typeface="Montserrat"/>
                <a:ea typeface="Montserrat"/>
                <a:cs typeface="Montserrat"/>
                <a:sym typeface="Montserrat"/>
              </a:rPr>
              <a:t>IETE</a:t>
            </a:r>
          </a:p>
          <a:p>
            <a:pPr algn="l" marL="0" indent="0" lvl="0">
              <a:lnSpc>
                <a:spcPts val="2210"/>
              </a:lnSpc>
            </a:pPr>
            <a:r>
              <a:rPr lang="en-US" sz="1578">
                <a:solidFill>
                  <a:srgbClr val="FFFFFF"/>
                </a:solidFill>
                <a:latin typeface="Montserrat"/>
                <a:ea typeface="Montserrat"/>
                <a:cs typeface="Montserrat"/>
                <a:sym typeface="Montserrat"/>
              </a:rPr>
              <a:t>CHAPTER</a:t>
            </a:r>
          </a:p>
        </p:txBody>
      </p:sp>
      <p:sp>
        <p:nvSpPr>
          <p:cNvPr name="TextBox 11" id="11"/>
          <p:cNvSpPr txBox="true"/>
          <p:nvPr/>
        </p:nvSpPr>
        <p:spPr>
          <a:xfrm rot="0">
            <a:off x="3137460" y="3908367"/>
            <a:ext cx="6665271" cy="1104190"/>
          </a:xfrm>
          <a:prstGeom prst="rect">
            <a:avLst/>
          </a:prstGeom>
        </p:spPr>
        <p:txBody>
          <a:bodyPr anchor="t" rtlCol="false" tIns="0" lIns="0" bIns="0" rIns="0">
            <a:spAutoFit/>
          </a:bodyPr>
          <a:lstStyle/>
          <a:p>
            <a:pPr algn="l" marL="0" indent="0" lvl="0">
              <a:lnSpc>
                <a:spcPts val="8998"/>
              </a:lnSpc>
            </a:pPr>
            <a:r>
              <a:rPr lang="en-US" sz="6869">
                <a:solidFill>
                  <a:srgbClr val="FFFFFF"/>
                </a:solidFill>
                <a:latin typeface="Montserrat"/>
                <a:ea typeface="Montserrat"/>
                <a:cs typeface="Montserrat"/>
                <a:sym typeface="Montserrat"/>
              </a:rPr>
              <a:t>2898 A.D:</a:t>
            </a:r>
          </a:p>
        </p:txBody>
      </p:sp>
      <p:sp>
        <p:nvSpPr>
          <p:cNvPr name="TextBox 12" id="12"/>
          <p:cNvSpPr txBox="true"/>
          <p:nvPr/>
        </p:nvSpPr>
        <p:spPr>
          <a:xfrm rot="0">
            <a:off x="3137460" y="4955340"/>
            <a:ext cx="7728920" cy="1034546"/>
          </a:xfrm>
          <a:prstGeom prst="rect">
            <a:avLst/>
          </a:prstGeom>
        </p:spPr>
        <p:txBody>
          <a:bodyPr anchor="t" rtlCol="false" tIns="0" lIns="0" bIns="0" rIns="0">
            <a:spAutoFit/>
          </a:bodyPr>
          <a:lstStyle/>
          <a:p>
            <a:pPr algn="l" marL="0" indent="0" lvl="0">
              <a:lnSpc>
                <a:spcPts val="8385"/>
              </a:lnSpc>
            </a:pPr>
            <a:r>
              <a:rPr lang="en-US" b="true" sz="6401">
                <a:solidFill>
                  <a:srgbClr val="FFFFFF"/>
                </a:solidFill>
                <a:latin typeface="Montserrat Bold"/>
                <a:ea typeface="Montserrat Bold"/>
                <a:cs typeface="Montserrat Bold"/>
                <a:sym typeface="Montserrat Bold"/>
              </a:rPr>
              <a:t>THE FINAL DROP</a:t>
            </a:r>
          </a:p>
        </p:txBody>
      </p:sp>
      <p:sp>
        <p:nvSpPr>
          <p:cNvPr name="TextBox 13" id="13"/>
          <p:cNvSpPr txBox="true"/>
          <p:nvPr/>
        </p:nvSpPr>
        <p:spPr>
          <a:xfrm rot="0">
            <a:off x="3266843" y="6317336"/>
            <a:ext cx="7470155" cy="916997"/>
          </a:xfrm>
          <a:prstGeom prst="rect">
            <a:avLst/>
          </a:prstGeom>
        </p:spPr>
        <p:txBody>
          <a:bodyPr anchor="t" rtlCol="false" tIns="0" lIns="0" bIns="0" rIns="0">
            <a:spAutoFit/>
          </a:bodyPr>
          <a:lstStyle/>
          <a:p>
            <a:pPr algn="l" marL="0" indent="0" lvl="0">
              <a:lnSpc>
                <a:spcPts val="2435"/>
              </a:lnSpc>
            </a:pPr>
            <a:r>
              <a:rPr lang="en-US" sz="1859">
                <a:solidFill>
                  <a:srgbClr val="FFFFFF"/>
                </a:solidFill>
                <a:latin typeface="Montserrat"/>
                <a:ea typeface="Montserrat"/>
                <a:cs typeface="Montserrat"/>
                <a:sym typeface="Montserrat"/>
              </a:rPr>
              <a:t>Bridging Core Electronics Concepts with Immersive Pop-Culture Gamification. A Story-Driven, Gamified ECE Experience Stall.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63275"/>
            <a:ext cx="1249152"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NEXT SLIDE</a:t>
            </a:r>
          </a:p>
        </p:txBody>
      </p:sp>
      <p:sp>
        <p:nvSpPr>
          <p:cNvPr name="TextBox 5" id="5"/>
          <p:cNvSpPr txBox="true"/>
          <p:nvPr/>
        </p:nvSpPr>
        <p:spPr>
          <a:xfrm rot="0">
            <a:off x="2887792" y="745210"/>
            <a:ext cx="1249152" cy="550446"/>
          </a:xfrm>
          <a:prstGeom prst="rect">
            <a:avLst/>
          </a:prstGeom>
        </p:spPr>
        <p:txBody>
          <a:bodyPr anchor="t" rtlCol="false" tIns="0" lIns="0" bIns="0" rIns="0">
            <a:spAutoFit/>
          </a:bodyPr>
          <a:lstStyle/>
          <a:p>
            <a:pPr algn="l" marL="0" indent="0" lvl="0">
              <a:lnSpc>
                <a:spcPts val="2210"/>
              </a:lnSpc>
            </a:pPr>
            <a:r>
              <a:rPr lang="en-US" sz="1578">
                <a:solidFill>
                  <a:srgbClr val="FFFFFF"/>
                </a:solidFill>
                <a:latin typeface="Montserrat"/>
                <a:ea typeface="Montserrat"/>
                <a:cs typeface="Montserrat"/>
                <a:sym typeface="Montserrat"/>
              </a:rPr>
              <a:t>IETE</a:t>
            </a:r>
          </a:p>
          <a:p>
            <a:pPr algn="l" marL="0" indent="0" lvl="0">
              <a:lnSpc>
                <a:spcPts val="2210"/>
              </a:lnSpc>
            </a:pPr>
            <a:r>
              <a:rPr lang="en-US" sz="1578">
                <a:solidFill>
                  <a:srgbClr val="FFFFFF"/>
                </a:solidFill>
                <a:latin typeface="Montserrat"/>
                <a:ea typeface="Montserrat"/>
                <a:cs typeface="Montserrat"/>
                <a:sym typeface="Montserrat"/>
              </a:rPr>
              <a:t>CHAPTER</a:t>
            </a:r>
          </a:p>
        </p:txBody>
      </p:sp>
      <p:sp>
        <p:nvSpPr>
          <p:cNvPr name="TextBox 6" id="6"/>
          <p:cNvSpPr txBox="true"/>
          <p:nvPr/>
        </p:nvSpPr>
        <p:spPr>
          <a:xfrm rot="0">
            <a:off x="2078860" y="9611392"/>
            <a:ext cx="1058601"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PAGE 02</a:t>
            </a:r>
          </a:p>
        </p:txBody>
      </p:sp>
      <p:sp>
        <p:nvSpPr>
          <p:cNvPr name="TextBox 7" id="7"/>
          <p:cNvSpPr txBox="true"/>
          <p:nvPr/>
        </p:nvSpPr>
        <p:spPr>
          <a:xfrm rot="0">
            <a:off x="2078860" y="2160594"/>
            <a:ext cx="6665271" cy="1104190"/>
          </a:xfrm>
          <a:prstGeom prst="rect">
            <a:avLst/>
          </a:prstGeom>
        </p:spPr>
        <p:txBody>
          <a:bodyPr anchor="t" rtlCol="false" tIns="0" lIns="0" bIns="0" rIns="0">
            <a:spAutoFit/>
          </a:bodyPr>
          <a:lstStyle/>
          <a:p>
            <a:pPr algn="l" marL="0" indent="0" lvl="0">
              <a:lnSpc>
                <a:spcPts val="8998"/>
              </a:lnSpc>
            </a:pPr>
            <a:r>
              <a:rPr lang="en-US" sz="6869">
                <a:solidFill>
                  <a:srgbClr val="FFFFFF"/>
                </a:solidFill>
                <a:latin typeface="Montserrat"/>
                <a:ea typeface="Montserrat"/>
                <a:cs typeface="Montserrat"/>
                <a:sym typeface="Montserrat"/>
              </a:rPr>
              <a:t>EXECUTIVE</a:t>
            </a:r>
          </a:p>
        </p:txBody>
      </p:sp>
      <p:sp>
        <p:nvSpPr>
          <p:cNvPr name="TextBox 8" id="8"/>
          <p:cNvSpPr txBox="true"/>
          <p:nvPr/>
        </p:nvSpPr>
        <p:spPr>
          <a:xfrm rot="0">
            <a:off x="2078860" y="3064692"/>
            <a:ext cx="7728920" cy="1104190"/>
          </a:xfrm>
          <a:prstGeom prst="rect">
            <a:avLst/>
          </a:prstGeom>
        </p:spPr>
        <p:txBody>
          <a:bodyPr anchor="t" rtlCol="false" tIns="0" lIns="0" bIns="0" rIns="0">
            <a:spAutoFit/>
          </a:bodyPr>
          <a:lstStyle/>
          <a:p>
            <a:pPr algn="l" marL="0" indent="0" lvl="0">
              <a:lnSpc>
                <a:spcPts val="8998"/>
              </a:lnSpc>
            </a:pPr>
            <a:r>
              <a:rPr lang="en-US" b="true" sz="6869">
                <a:solidFill>
                  <a:srgbClr val="FFFFFF"/>
                </a:solidFill>
                <a:latin typeface="Montserrat Bold"/>
                <a:ea typeface="Montserrat Bold"/>
                <a:cs typeface="Montserrat Bold"/>
                <a:sym typeface="Montserrat Bold"/>
              </a:rPr>
              <a:t>SUMMARY</a:t>
            </a:r>
          </a:p>
        </p:txBody>
      </p:sp>
      <p:sp>
        <p:nvSpPr>
          <p:cNvPr name="Freeform 9" id="9"/>
          <p:cNvSpPr/>
          <p:nvPr/>
        </p:nvSpPr>
        <p:spPr>
          <a:xfrm flipH="false" flipV="false" rot="0">
            <a:off x="1542129" y="4659131"/>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217109" y="5305448"/>
            <a:ext cx="6527022" cy="1025960"/>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Attract diverse students to the ECE stall through immersive gamification. A 4-level solo gamified maze inspired by dystopian sci-fi worldbuilding — accessible to all departments, no prior ECE knowledge required.</a:t>
            </a:r>
          </a:p>
        </p:txBody>
      </p:sp>
      <p:sp>
        <p:nvSpPr>
          <p:cNvPr name="TextBox 11" id="11"/>
          <p:cNvSpPr txBox="true"/>
          <p:nvPr/>
        </p:nvSpPr>
        <p:spPr>
          <a:xfrm rot="0">
            <a:off x="2212913" y="4698819"/>
            <a:ext cx="4518846" cy="368488"/>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Objective &amp; Core Concept</a:t>
            </a:r>
          </a:p>
        </p:txBody>
      </p:sp>
      <p:sp>
        <p:nvSpPr>
          <p:cNvPr name="Freeform 12" id="12"/>
          <p:cNvSpPr/>
          <p:nvPr/>
        </p:nvSpPr>
        <p:spPr>
          <a:xfrm flipH="false" flipV="false" rot="0">
            <a:off x="1542129" y="6738264"/>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2217109" y="7384580"/>
            <a:ext cx="6527022" cy="1025960"/>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Crowd-friendly format with 6–8 min/player throughput for smooth queue management. Low-cost, fully reusable hardware setup ensuring high engagement, maximum footfall, and an unforgettable Tech Fest experience.</a:t>
            </a:r>
          </a:p>
        </p:txBody>
      </p:sp>
      <p:sp>
        <p:nvSpPr>
          <p:cNvPr name="TextBox 14" id="14"/>
          <p:cNvSpPr txBox="true"/>
          <p:nvPr/>
        </p:nvSpPr>
        <p:spPr>
          <a:xfrm rot="0">
            <a:off x="2212913" y="6777952"/>
            <a:ext cx="4518846" cy="368488"/>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Event Highlights</a:t>
            </a:r>
          </a:p>
        </p:txBody>
      </p:sp>
      <p:grpSp>
        <p:nvGrpSpPr>
          <p:cNvPr name="Group 15" id="15"/>
          <p:cNvGrpSpPr>
            <a:grpSpLocks noChangeAspect="true"/>
          </p:cNvGrpSpPr>
          <p:nvPr/>
        </p:nvGrpSpPr>
        <p:grpSpPr>
          <a:xfrm rot="0">
            <a:off x="10012058" y="1700877"/>
            <a:ext cx="7247242" cy="7247242"/>
            <a:chOff x="0" y="0"/>
            <a:chExt cx="14840029" cy="14840029"/>
          </a:xfrm>
        </p:grpSpPr>
        <p:sp>
          <p:nvSpPr>
            <p:cNvPr name="Freeform 16" id="1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2C2F6F">
                    <a:alpha val="100000"/>
                  </a:srgbClr>
                </a:gs>
                <a:gs pos="100000">
                  <a:srgbClr val="490F3E">
                    <a:alpha val="100000"/>
                  </a:srgbClr>
                </a:gs>
              </a:gsLst>
              <a:lin ang="0"/>
            </a:gradFill>
          </p:spPr>
        </p:sp>
        <p:sp>
          <p:nvSpPr>
            <p:cNvPr name="Freeform 17" id="1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8" id="1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27" t="0" r="-2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707" y="641727"/>
            <a:ext cx="649831" cy="759543"/>
          </a:xfrm>
          <a:custGeom>
            <a:avLst/>
            <a:gdLst/>
            <a:ahLst/>
            <a:cxnLst/>
            <a:rect r="r" b="b" t="t" l="l"/>
            <a:pathLst>
              <a:path h="759543" w="649831">
                <a:moveTo>
                  <a:pt x="0" y="0"/>
                </a:moveTo>
                <a:lnTo>
                  <a:pt x="649831" y="0"/>
                </a:lnTo>
                <a:lnTo>
                  <a:pt x="649831" y="759543"/>
                </a:lnTo>
                <a:lnTo>
                  <a:pt x="0" y="759543"/>
                </a:lnTo>
                <a:lnTo>
                  <a:pt x="0" y="0"/>
                </a:lnTo>
                <a:close/>
              </a:path>
            </a:pathLst>
          </a:custGeom>
          <a:blipFill>
            <a:blip r:embed="rId3"/>
            <a:stretch>
              <a:fillRect l="0" t="0" r="0" b="0"/>
            </a:stretch>
          </a:blipFill>
        </p:spPr>
      </p:sp>
      <p:sp>
        <p:nvSpPr>
          <p:cNvPr name="Freeform 4" id="4"/>
          <p:cNvSpPr/>
          <p:nvPr/>
        </p:nvSpPr>
        <p:spPr>
          <a:xfrm flipH="false" flipV="false" rot="0">
            <a:off x="1825419" y="4989558"/>
            <a:ext cx="760862" cy="760862"/>
          </a:xfrm>
          <a:custGeom>
            <a:avLst/>
            <a:gdLst/>
            <a:ahLst/>
            <a:cxnLst/>
            <a:rect r="r" b="b" t="t" l="l"/>
            <a:pathLst>
              <a:path h="760862" w="760862">
                <a:moveTo>
                  <a:pt x="0" y="0"/>
                </a:moveTo>
                <a:lnTo>
                  <a:pt x="760863" y="0"/>
                </a:lnTo>
                <a:lnTo>
                  <a:pt x="760863" y="760862"/>
                </a:lnTo>
                <a:lnTo>
                  <a:pt x="0" y="760862"/>
                </a:lnTo>
                <a:lnTo>
                  <a:pt x="0" y="0"/>
                </a:lnTo>
                <a:close/>
              </a:path>
            </a:pathLst>
          </a:custGeom>
          <a:blipFill>
            <a:blip r:embed="rId4"/>
            <a:stretch>
              <a:fillRect l="0" t="0" r="0" b="0"/>
            </a:stretch>
          </a:blipFill>
        </p:spPr>
      </p:sp>
      <p:sp>
        <p:nvSpPr>
          <p:cNvPr name="TextBox 5" id="5"/>
          <p:cNvSpPr txBox="true"/>
          <p:nvPr/>
        </p:nvSpPr>
        <p:spPr>
          <a:xfrm rot="0">
            <a:off x="16010148" y="863275"/>
            <a:ext cx="1249152"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NEXT SLIDE</a:t>
            </a:r>
          </a:p>
        </p:txBody>
      </p:sp>
      <p:sp>
        <p:nvSpPr>
          <p:cNvPr name="TextBox 6" id="6"/>
          <p:cNvSpPr txBox="true"/>
          <p:nvPr/>
        </p:nvSpPr>
        <p:spPr>
          <a:xfrm rot="0">
            <a:off x="2887792" y="745210"/>
            <a:ext cx="1249152" cy="550446"/>
          </a:xfrm>
          <a:prstGeom prst="rect">
            <a:avLst/>
          </a:prstGeom>
        </p:spPr>
        <p:txBody>
          <a:bodyPr anchor="t" rtlCol="false" tIns="0" lIns="0" bIns="0" rIns="0">
            <a:spAutoFit/>
          </a:bodyPr>
          <a:lstStyle/>
          <a:p>
            <a:pPr algn="l" marL="0" indent="0" lvl="0">
              <a:lnSpc>
                <a:spcPts val="2210"/>
              </a:lnSpc>
            </a:pPr>
            <a:r>
              <a:rPr lang="en-US" sz="1578">
                <a:solidFill>
                  <a:srgbClr val="FFFFFF"/>
                </a:solidFill>
                <a:latin typeface="Montserrat"/>
                <a:ea typeface="Montserrat"/>
                <a:cs typeface="Montserrat"/>
                <a:sym typeface="Montserrat"/>
              </a:rPr>
              <a:t>IETE</a:t>
            </a:r>
          </a:p>
          <a:p>
            <a:pPr algn="l" marL="0" indent="0" lvl="0">
              <a:lnSpc>
                <a:spcPts val="2210"/>
              </a:lnSpc>
            </a:pPr>
            <a:r>
              <a:rPr lang="en-US" sz="1578">
                <a:solidFill>
                  <a:srgbClr val="FFFFFF"/>
                </a:solidFill>
                <a:latin typeface="Montserrat"/>
                <a:ea typeface="Montserrat"/>
                <a:cs typeface="Montserrat"/>
                <a:sym typeface="Montserrat"/>
              </a:rPr>
              <a:t>CHAPTER</a:t>
            </a:r>
          </a:p>
        </p:txBody>
      </p:sp>
      <p:sp>
        <p:nvSpPr>
          <p:cNvPr name="TextBox 7" id="7"/>
          <p:cNvSpPr txBox="true"/>
          <p:nvPr/>
        </p:nvSpPr>
        <p:spPr>
          <a:xfrm rot="0">
            <a:off x="2078860" y="9611392"/>
            <a:ext cx="1058601"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PAGE 03</a:t>
            </a:r>
          </a:p>
        </p:txBody>
      </p:sp>
      <p:sp>
        <p:nvSpPr>
          <p:cNvPr name="TextBox 8" id="8"/>
          <p:cNvSpPr txBox="true"/>
          <p:nvPr/>
        </p:nvSpPr>
        <p:spPr>
          <a:xfrm rot="0">
            <a:off x="5811365" y="2240038"/>
            <a:ext cx="6665271" cy="1104190"/>
          </a:xfrm>
          <a:prstGeom prst="rect">
            <a:avLst/>
          </a:prstGeom>
        </p:spPr>
        <p:txBody>
          <a:bodyPr anchor="t" rtlCol="false" tIns="0" lIns="0" bIns="0" rIns="0">
            <a:spAutoFit/>
          </a:bodyPr>
          <a:lstStyle/>
          <a:p>
            <a:pPr algn="ctr" marL="0" indent="0" lvl="0">
              <a:lnSpc>
                <a:spcPts val="8998"/>
              </a:lnSpc>
            </a:pPr>
            <a:r>
              <a:rPr lang="en-US" sz="6869">
                <a:solidFill>
                  <a:srgbClr val="FFFFFF"/>
                </a:solidFill>
                <a:latin typeface="Montserrat"/>
                <a:ea typeface="Montserrat"/>
                <a:cs typeface="Montserrat"/>
                <a:sym typeface="Montserrat"/>
              </a:rPr>
              <a:t>NARRATIVE &amp;</a:t>
            </a:r>
          </a:p>
        </p:txBody>
      </p:sp>
      <p:sp>
        <p:nvSpPr>
          <p:cNvPr name="TextBox 9" id="9"/>
          <p:cNvSpPr txBox="true"/>
          <p:nvPr/>
        </p:nvSpPr>
        <p:spPr>
          <a:xfrm rot="0">
            <a:off x="5279540" y="3088597"/>
            <a:ext cx="7728920" cy="956339"/>
          </a:xfrm>
          <a:prstGeom prst="rect">
            <a:avLst/>
          </a:prstGeom>
        </p:spPr>
        <p:txBody>
          <a:bodyPr anchor="t" rtlCol="false" tIns="0" lIns="0" bIns="0" rIns="0">
            <a:spAutoFit/>
          </a:bodyPr>
          <a:lstStyle/>
          <a:p>
            <a:pPr algn="ctr" marL="0" indent="0" lvl="0">
              <a:lnSpc>
                <a:spcPts val="7678"/>
              </a:lnSpc>
            </a:pPr>
            <a:r>
              <a:rPr lang="en-US" b="true" sz="5861">
                <a:solidFill>
                  <a:srgbClr val="FFFFFF"/>
                </a:solidFill>
                <a:latin typeface="Montserrat Bold"/>
                <a:ea typeface="Montserrat Bold"/>
                <a:cs typeface="Montserrat Bold"/>
                <a:sym typeface="Montserrat Bold"/>
              </a:rPr>
              <a:t>LORE FRAMEWORK</a:t>
            </a:r>
          </a:p>
        </p:txBody>
      </p:sp>
      <p:sp>
        <p:nvSpPr>
          <p:cNvPr name="TextBox 10" id="10"/>
          <p:cNvSpPr txBox="true"/>
          <p:nvPr/>
        </p:nvSpPr>
        <p:spPr>
          <a:xfrm rot="0">
            <a:off x="2722192" y="6040570"/>
            <a:ext cx="3726211" cy="2311835"/>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Year 2898 A.D. — The Serum is lost. Players become Bounty Hunters traversing four dangerous zones: Kashi → Sector 7 → New World → Shambhala. Each zone is a gauntlet of ECE challenges standing between the Hunter and the cure. Complete all levels to retrieve the Serum and save humanity.</a:t>
            </a:r>
          </a:p>
        </p:txBody>
      </p:sp>
      <p:sp>
        <p:nvSpPr>
          <p:cNvPr name="TextBox 11" id="11"/>
          <p:cNvSpPr txBox="true"/>
          <p:nvPr/>
        </p:nvSpPr>
        <p:spPr>
          <a:xfrm rot="0">
            <a:off x="7688545" y="6040570"/>
            <a:ext cx="3630878" cy="2054660"/>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Participants = Hunters on a solo mission. Volunteers = Complex Raiders — enforcers guarding each zone. Failure means capture and exile to the Flux Lands trap zone, where one retry is earned only by sacrificing an energy prop. Every role is immersive and thematic.</a:t>
            </a:r>
          </a:p>
        </p:txBody>
      </p:sp>
      <p:sp>
        <p:nvSpPr>
          <p:cNvPr name="TextBox 12" id="12"/>
          <p:cNvSpPr txBox="true"/>
          <p:nvPr/>
        </p:nvSpPr>
        <p:spPr>
          <a:xfrm rot="0">
            <a:off x="12476635" y="6040570"/>
            <a:ext cx="4012210" cy="1797485"/>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The lore lowers the entry barrier for non-ECE students by wrapping technical puzzles in an engaging narrative. No prior electronics knowledge needed to begin — curiosity and instinct guide players in, while real ECE concepts reward those who dig deeper.</a:t>
            </a:r>
          </a:p>
        </p:txBody>
      </p:sp>
      <p:sp>
        <p:nvSpPr>
          <p:cNvPr name="TextBox 13" id="13"/>
          <p:cNvSpPr txBox="true"/>
          <p:nvPr/>
        </p:nvSpPr>
        <p:spPr>
          <a:xfrm rot="0">
            <a:off x="2793665" y="4981551"/>
            <a:ext cx="2391548" cy="368488"/>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The Storyline</a:t>
            </a:r>
          </a:p>
        </p:txBody>
      </p:sp>
      <p:sp>
        <p:nvSpPr>
          <p:cNvPr name="Freeform 14" id="14"/>
          <p:cNvSpPr/>
          <p:nvPr/>
        </p:nvSpPr>
        <p:spPr>
          <a:xfrm flipH="false" flipV="false" rot="0">
            <a:off x="6719969" y="4989672"/>
            <a:ext cx="760128" cy="762989"/>
          </a:xfrm>
          <a:custGeom>
            <a:avLst/>
            <a:gdLst/>
            <a:ahLst/>
            <a:cxnLst/>
            <a:rect r="r" b="b" t="t" l="l"/>
            <a:pathLst>
              <a:path h="762989" w="760128">
                <a:moveTo>
                  <a:pt x="0" y="0"/>
                </a:moveTo>
                <a:lnTo>
                  <a:pt x="760128" y="0"/>
                </a:lnTo>
                <a:lnTo>
                  <a:pt x="760128" y="762989"/>
                </a:lnTo>
                <a:lnTo>
                  <a:pt x="0" y="762989"/>
                </a:lnTo>
                <a:lnTo>
                  <a:pt x="0" y="0"/>
                </a:lnTo>
                <a:close/>
              </a:path>
            </a:pathLst>
          </a:custGeom>
          <a:blipFill>
            <a:blip r:embed="rId5"/>
            <a:stretch>
              <a:fillRect l="0" t="0" r="0" b="0"/>
            </a:stretch>
          </a:blipFill>
        </p:spPr>
      </p:sp>
      <p:sp>
        <p:nvSpPr>
          <p:cNvPr name="TextBox 15" id="15"/>
          <p:cNvSpPr txBox="true"/>
          <p:nvPr/>
        </p:nvSpPr>
        <p:spPr>
          <a:xfrm rot="0">
            <a:off x="7688545" y="4981551"/>
            <a:ext cx="2786618" cy="368488"/>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Roles &amp; Factions</a:t>
            </a:r>
          </a:p>
        </p:txBody>
      </p:sp>
      <p:sp>
        <p:nvSpPr>
          <p:cNvPr name="Freeform 16" id="16"/>
          <p:cNvSpPr/>
          <p:nvPr/>
        </p:nvSpPr>
        <p:spPr>
          <a:xfrm flipH="false" flipV="false" rot="0">
            <a:off x="11506478" y="4988819"/>
            <a:ext cx="761171" cy="760023"/>
          </a:xfrm>
          <a:custGeom>
            <a:avLst/>
            <a:gdLst/>
            <a:ahLst/>
            <a:cxnLst/>
            <a:rect r="r" b="b" t="t" l="l"/>
            <a:pathLst>
              <a:path h="760023" w="761171">
                <a:moveTo>
                  <a:pt x="0" y="0"/>
                </a:moveTo>
                <a:lnTo>
                  <a:pt x="761172" y="0"/>
                </a:lnTo>
                <a:lnTo>
                  <a:pt x="761172" y="760023"/>
                </a:lnTo>
                <a:lnTo>
                  <a:pt x="0" y="760023"/>
                </a:lnTo>
                <a:lnTo>
                  <a:pt x="0" y="0"/>
                </a:lnTo>
                <a:close/>
              </a:path>
            </a:pathLst>
          </a:custGeom>
          <a:blipFill>
            <a:blip r:embed="rId6"/>
            <a:stretch>
              <a:fillRect l="0" t="0" r="0" b="0"/>
            </a:stretch>
          </a:blipFill>
        </p:spPr>
      </p:sp>
      <p:sp>
        <p:nvSpPr>
          <p:cNvPr name="TextBox 17" id="17"/>
          <p:cNvSpPr txBox="true"/>
          <p:nvPr/>
        </p:nvSpPr>
        <p:spPr>
          <a:xfrm rot="0">
            <a:off x="12475417" y="4981551"/>
            <a:ext cx="2786618" cy="368488"/>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Purpose &amp; Design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72800"/>
            <a:ext cx="1249152" cy="207271"/>
          </a:xfrm>
          <a:prstGeom prst="rect">
            <a:avLst/>
          </a:prstGeom>
        </p:spPr>
        <p:txBody>
          <a:bodyPr anchor="t" rtlCol="false" tIns="0" lIns="0" bIns="0" rIns="0">
            <a:spAutoFit/>
          </a:bodyPr>
          <a:lstStyle/>
          <a:p>
            <a:pPr algn="l" marL="0" indent="0" lvl="0">
              <a:lnSpc>
                <a:spcPts val="1700"/>
              </a:lnSpc>
              <a:spcBef>
                <a:spcPct val="0"/>
              </a:spcBef>
            </a:pPr>
            <a:r>
              <a:rPr lang="en-US" sz="1214">
                <a:solidFill>
                  <a:srgbClr val="FFFFFF"/>
                </a:solidFill>
                <a:latin typeface="Montserrat"/>
                <a:ea typeface="Montserrat"/>
                <a:cs typeface="Montserrat"/>
                <a:sym typeface="Montserrat"/>
              </a:rPr>
              <a:t>NEXT SLIDE</a:t>
            </a:r>
          </a:p>
        </p:txBody>
      </p:sp>
      <p:sp>
        <p:nvSpPr>
          <p:cNvPr name="TextBox 5" id="5"/>
          <p:cNvSpPr txBox="true"/>
          <p:nvPr/>
        </p:nvSpPr>
        <p:spPr>
          <a:xfrm rot="0">
            <a:off x="2887792" y="754735"/>
            <a:ext cx="1249152" cy="416821"/>
          </a:xfrm>
          <a:prstGeom prst="rect">
            <a:avLst/>
          </a:prstGeom>
        </p:spPr>
        <p:txBody>
          <a:bodyPr anchor="t" rtlCol="false" tIns="0" lIns="0" bIns="0" rIns="0">
            <a:spAutoFit/>
          </a:bodyPr>
          <a:lstStyle/>
          <a:p>
            <a:pPr algn="l" marL="0" indent="0" lvl="0">
              <a:lnSpc>
                <a:spcPts val="1700"/>
              </a:lnSpc>
            </a:pPr>
            <a:r>
              <a:rPr lang="en-US" sz="1214">
                <a:solidFill>
                  <a:srgbClr val="FFFFFF"/>
                </a:solidFill>
                <a:latin typeface="Montserrat"/>
                <a:ea typeface="Montserrat"/>
                <a:cs typeface="Montserrat"/>
                <a:sym typeface="Montserrat"/>
              </a:rPr>
              <a:t>IETE</a:t>
            </a:r>
          </a:p>
          <a:p>
            <a:pPr algn="l" marL="0" indent="0" lvl="0">
              <a:lnSpc>
                <a:spcPts val="1700"/>
              </a:lnSpc>
            </a:pPr>
            <a:r>
              <a:rPr lang="en-US" sz="1214">
                <a:solidFill>
                  <a:srgbClr val="FFFFFF"/>
                </a:solidFill>
                <a:latin typeface="Montserrat"/>
                <a:ea typeface="Montserrat"/>
                <a:cs typeface="Montserrat"/>
                <a:sym typeface="Montserrat"/>
              </a:rPr>
              <a:t>CHAPTER</a:t>
            </a:r>
          </a:p>
        </p:txBody>
      </p:sp>
      <p:sp>
        <p:nvSpPr>
          <p:cNvPr name="TextBox 6" id="6"/>
          <p:cNvSpPr txBox="true"/>
          <p:nvPr/>
        </p:nvSpPr>
        <p:spPr>
          <a:xfrm rot="0">
            <a:off x="2078860" y="9620917"/>
            <a:ext cx="1058601" cy="207271"/>
          </a:xfrm>
          <a:prstGeom prst="rect">
            <a:avLst/>
          </a:prstGeom>
        </p:spPr>
        <p:txBody>
          <a:bodyPr anchor="t" rtlCol="false" tIns="0" lIns="0" bIns="0" rIns="0">
            <a:spAutoFit/>
          </a:bodyPr>
          <a:lstStyle/>
          <a:p>
            <a:pPr algn="l" marL="0" indent="0" lvl="0">
              <a:lnSpc>
                <a:spcPts val="1700"/>
              </a:lnSpc>
              <a:spcBef>
                <a:spcPct val="0"/>
              </a:spcBef>
            </a:pPr>
            <a:r>
              <a:rPr lang="en-US" sz="1214">
                <a:solidFill>
                  <a:srgbClr val="FFFFFF"/>
                </a:solidFill>
                <a:latin typeface="Montserrat"/>
                <a:ea typeface="Montserrat"/>
                <a:cs typeface="Montserrat"/>
                <a:sym typeface="Montserrat"/>
              </a:rPr>
              <a:t>PAGE 04</a:t>
            </a:r>
          </a:p>
        </p:txBody>
      </p:sp>
      <p:sp>
        <p:nvSpPr>
          <p:cNvPr name="TextBox 7" id="7"/>
          <p:cNvSpPr txBox="true"/>
          <p:nvPr/>
        </p:nvSpPr>
        <p:spPr>
          <a:xfrm rot="0">
            <a:off x="5811365" y="2259088"/>
            <a:ext cx="6665271" cy="788935"/>
          </a:xfrm>
          <a:prstGeom prst="rect">
            <a:avLst/>
          </a:prstGeom>
        </p:spPr>
        <p:txBody>
          <a:bodyPr anchor="t" rtlCol="false" tIns="0" lIns="0" bIns="0" rIns="0">
            <a:spAutoFit/>
          </a:bodyPr>
          <a:lstStyle/>
          <a:p>
            <a:pPr algn="ctr" marL="0" indent="0" lvl="0">
              <a:lnSpc>
                <a:spcPts val="6406"/>
              </a:lnSpc>
            </a:pPr>
            <a:r>
              <a:rPr lang="en-US" sz="4890">
                <a:solidFill>
                  <a:srgbClr val="FFFFFF"/>
                </a:solidFill>
                <a:latin typeface="Montserrat"/>
                <a:ea typeface="Montserrat"/>
                <a:cs typeface="Montserrat"/>
                <a:sym typeface="Montserrat"/>
              </a:rPr>
              <a:t>GAME MECHANICS &amp;</a:t>
            </a:r>
          </a:p>
        </p:txBody>
      </p:sp>
      <p:sp>
        <p:nvSpPr>
          <p:cNvPr name="TextBox 8" id="8"/>
          <p:cNvSpPr txBox="true"/>
          <p:nvPr/>
        </p:nvSpPr>
        <p:spPr>
          <a:xfrm rot="0">
            <a:off x="5279540" y="3088597"/>
            <a:ext cx="7728920" cy="965361"/>
          </a:xfrm>
          <a:prstGeom prst="rect">
            <a:avLst/>
          </a:prstGeom>
        </p:spPr>
        <p:txBody>
          <a:bodyPr anchor="t" rtlCol="false" tIns="0" lIns="0" bIns="0" rIns="0">
            <a:spAutoFit/>
          </a:bodyPr>
          <a:lstStyle/>
          <a:p>
            <a:pPr algn="ctr" marL="0" indent="0" lvl="0">
              <a:lnSpc>
                <a:spcPts val="7725"/>
              </a:lnSpc>
            </a:pPr>
            <a:r>
              <a:rPr lang="en-US" b="true" sz="5897">
                <a:solidFill>
                  <a:srgbClr val="FFFFFF"/>
                </a:solidFill>
                <a:latin typeface="Montserrat Bold"/>
                <a:ea typeface="Montserrat Bold"/>
                <a:cs typeface="Montserrat Bold"/>
                <a:sym typeface="Montserrat Bold"/>
              </a:rPr>
              <a:t>TECHNICAL LEVELS</a:t>
            </a:r>
          </a:p>
        </p:txBody>
      </p:sp>
      <p:sp>
        <p:nvSpPr>
          <p:cNvPr name="Freeform 9" id="9"/>
          <p:cNvSpPr/>
          <p:nvPr/>
        </p:nvSpPr>
        <p:spPr>
          <a:xfrm flipH="false" flipV="false" rot="0">
            <a:off x="2246615" y="4452211"/>
            <a:ext cx="6071086" cy="4553315"/>
          </a:xfrm>
          <a:custGeom>
            <a:avLst/>
            <a:gdLst/>
            <a:ahLst/>
            <a:cxnLst/>
            <a:rect r="r" b="b" t="t" l="l"/>
            <a:pathLst>
              <a:path h="4553315" w="6071086">
                <a:moveTo>
                  <a:pt x="0" y="0"/>
                </a:moveTo>
                <a:lnTo>
                  <a:pt x="6071086" y="0"/>
                </a:lnTo>
                <a:lnTo>
                  <a:pt x="6071086" y="4553315"/>
                </a:lnTo>
                <a:lnTo>
                  <a:pt x="0" y="4553315"/>
                </a:lnTo>
                <a:lnTo>
                  <a:pt x="0" y="0"/>
                </a:lnTo>
                <a:close/>
              </a:path>
            </a:pathLst>
          </a:custGeom>
          <a:blipFill>
            <a:blip r:embed="rId5"/>
            <a:stretch>
              <a:fillRect l="0" t="0" r="0" b="0"/>
            </a:stretch>
          </a:blipFill>
        </p:spPr>
      </p:sp>
      <p:sp>
        <p:nvSpPr>
          <p:cNvPr name="Freeform 10" id="10"/>
          <p:cNvSpPr/>
          <p:nvPr/>
        </p:nvSpPr>
        <p:spPr>
          <a:xfrm flipH="false" flipV="false" rot="0">
            <a:off x="9717587" y="4349145"/>
            <a:ext cx="6349838" cy="4762379"/>
          </a:xfrm>
          <a:custGeom>
            <a:avLst/>
            <a:gdLst/>
            <a:ahLst/>
            <a:cxnLst/>
            <a:rect r="r" b="b" t="t" l="l"/>
            <a:pathLst>
              <a:path h="4762379" w="6349838">
                <a:moveTo>
                  <a:pt x="0" y="0"/>
                </a:moveTo>
                <a:lnTo>
                  <a:pt x="6349838" y="0"/>
                </a:lnTo>
                <a:lnTo>
                  <a:pt x="6349838" y="4762378"/>
                </a:lnTo>
                <a:lnTo>
                  <a:pt x="0" y="4762378"/>
                </a:lnTo>
                <a:lnTo>
                  <a:pt x="0" y="0"/>
                </a:lnTo>
                <a:close/>
              </a:path>
            </a:pathLst>
          </a:custGeom>
          <a:blipFill>
            <a:blip r:embed="rId6"/>
            <a:stretch>
              <a:fillRect l="0" t="0" r="0" b="0"/>
            </a:stretch>
          </a:blipFill>
        </p:spPr>
      </p:sp>
      <p:sp>
        <p:nvSpPr>
          <p:cNvPr name="TextBox 11" id="11"/>
          <p:cNvSpPr txBox="true"/>
          <p:nvPr/>
        </p:nvSpPr>
        <p:spPr>
          <a:xfrm rot="0">
            <a:off x="3137460" y="6123887"/>
            <a:ext cx="4397916" cy="1326261"/>
          </a:xfrm>
          <a:prstGeom prst="rect">
            <a:avLst/>
          </a:prstGeom>
        </p:spPr>
        <p:txBody>
          <a:bodyPr anchor="t" rtlCol="false" tIns="0" lIns="0" bIns="0" rIns="0">
            <a:spAutoFit/>
          </a:bodyPr>
          <a:lstStyle/>
          <a:p>
            <a:pPr algn="l" marL="0" indent="0" lvl="0">
              <a:lnSpc>
                <a:spcPts val="1572"/>
              </a:lnSpc>
            </a:pPr>
            <a:r>
              <a:rPr lang="en-US" sz="1200">
                <a:solidFill>
                  <a:srgbClr val="FFFFFF"/>
                </a:solidFill>
                <a:latin typeface="Montserrat"/>
                <a:ea typeface="Montserrat"/>
                <a:cs typeface="Montserrat"/>
                <a:sym typeface="Montserrat"/>
              </a:rPr>
              <a:t>CONCEPT: Path of Least Resistance / Circuit Shorting</a:t>
            </a:r>
          </a:p>
          <a:p>
            <a:pPr algn="l" marL="0" indent="0" lvl="0">
              <a:lnSpc>
                <a:spcPts val="1572"/>
              </a:lnSpc>
            </a:pPr>
            <a:r>
              <a:rPr lang="en-US" sz="1200">
                <a:solidFill>
                  <a:srgbClr val="FFFFFF"/>
                </a:solidFill>
                <a:latin typeface="Montserrat"/>
                <a:ea typeface="Montserrat"/>
                <a:cs typeface="Montserrat"/>
                <a:sym typeface="Montserrat"/>
              </a:rPr>
              <a:t>GAMEPLAY: Navigate a wire-loop and switch maze to form zero-resistance paths. Players must identify and complete the correct circuit to activate the SOMA module and advance.</a:t>
            </a:r>
          </a:p>
          <a:p>
            <a:pPr algn="l" marL="0" indent="0" lvl="0">
              <a:lnSpc>
                <a:spcPts val="1572"/>
              </a:lnSpc>
            </a:pPr>
            <a:r>
              <a:rPr lang="en-US" sz="1200">
                <a:solidFill>
                  <a:srgbClr val="FFFFFF"/>
                </a:solidFill>
                <a:latin typeface="Montserrat"/>
                <a:ea typeface="Montserrat"/>
                <a:cs typeface="Montserrat"/>
                <a:sym typeface="Montserrat"/>
              </a:rPr>
              <a:t>SKILL: Basic circuit theory, short-circuit logic, resistance analysis.</a:t>
            </a:r>
          </a:p>
        </p:txBody>
      </p:sp>
      <p:sp>
        <p:nvSpPr>
          <p:cNvPr name="TextBox 12" id="12"/>
          <p:cNvSpPr txBox="true"/>
          <p:nvPr/>
        </p:nvSpPr>
        <p:spPr>
          <a:xfrm rot="0">
            <a:off x="3137460" y="5458360"/>
            <a:ext cx="4518846" cy="280518"/>
          </a:xfrm>
          <a:prstGeom prst="rect">
            <a:avLst/>
          </a:prstGeom>
        </p:spPr>
        <p:txBody>
          <a:bodyPr anchor="t" rtlCol="false" tIns="0" lIns="0" bIns="0" rIns="0">
            <a:spAutoFit/>
          </a:bodyPr>
          <a:lstStyle/>
          <a:p>
            <a:pPr algn="l" marL="0" indent="0" lvl="0">
              <a:lnSpc>
                <a:spcPts val="2276"/>
              </a:lnSpc>
            </a:pPr>
            <a:r>
              <a:rPr lang="en-US" b="true" sz="1738">
                <a:solidFill>
                  <a:srgbClr val="FFFFFF"/>
                </a:solidFill>
                <a:latin typeface="Montserrat Bold"/>
                <a:ea typeface="Montserrat Bold"/>
                <a:cs typeface="Montserrat Bold"/>
                <a:sym typeface="Montserrat Bold"/>
              </a:rPr>
              <a:t>LEVEL 1: KASHI — SOMA ACTIVATION</a:t>
            </a:r>
          </a:p>
        </p:txBody>
      </p:sp>
      <p:sp>
        <p:nvSpPr>
          <p:cNvPr name="TextBox 13" id="13"/>
          <p:cNvSpPr txBox="true"/>
          <p:nvPr/>
        </p:nvSpPr>
        <p:spPr>
          <a:xfrm rot="0">
            <a:off x="10749037" y="6123887"/>
            <a:ext cx="4397916" cy="1326261"/>
          </a:xfrm>
          <a:prstGeom prst="rect">
            <a:avLst/>
          </a:prstGeom>
        </p:spPr>
        <p:txBody>
          <a:bodyPr anchor="t" rtlCol="false" tIns="0" lIns="0" bIns="0" rIns="0">
            <a:spAutoFit/>
          </a:bodyPr>
          <a:lstStyle/>
          <a:p>
            <a:pPr algn="l" marL="0" indent="0" lvl="0">
              <a:lnSpc>
                <a:spcPts val="1572"/>
              </a:lnSpc>
            </a:pPr>
            <a:r>
              <a:rPr lang="en-US" sz="1200">
                <a:solidFill>
                  <a:srgbClr val="FFFFFF"/>
                </a:solidFill>
                <a:latin typeface="Montserrat"/>
                <a:ea typeface="Montserrat"/>
                <a:cs typeface="Montserrat"/>
                <a:sym typeface="Montserrat"/>
              </a:rPr>
              <a:t>CONCEPT: Digital Logic &amp; Binary-to-Decimal Conversion</a:t>
            </a:r>
          </a:p>
          <a:p>
            <a:pPr algn="l" marL="0" indent="0" lvl="0">
              <a:lnSpc>
                <a:spcPts val="1572"/>
              </a:lnSpc>
            </a:pPr>
            <a:r>
              <a:rPr lang="en-US" sz="1200">
                <a:solidFill>
                  <a:srgbClr val="FFFFFF"/>
                </a:solidFill>
                <a:latin typeface="Montserrat"/>
                <a:ea typeface="Montserrat"/>
                <a:cs typeface="Montserrat"/>
                <a:sym typeface="Montserrat"/>
              </a:rPr>
              <a:t>GAMEPLAY: Decode encrypted bounty codes using 4-bit toggle switches within 60 seconds. Players convert binary inputs to decimal outputs to unlock the Raider Grid and proceed.</a:t>
            </a:r>
          </a:p>
          <a:p>
            <a:pPr algn="l" marL="0" indent="0" lvl="0">
              <a:lnSpc>
                <a:spcPts val="1572"/>
              </a:lnSpc>
            </a:pPr>
            <a:r>
              <a:rPr lang="en-US" sz="1200">
                <a:solidFill>
                  <a:srgbClr val="FFFFFF"/>
                </a:solidFill>
                <a:latin typeface="Montserrat"/>
                <a:ea typeface="Montserrat"/>
                <a:cs typeface="Montserrat"/>
                <a:sym typeface="Montserrat"/>
              </a:rPr>
              <a:t>SKILL: Binary arithmetic, digital logic gates, time-pressure decision-making.</a:t>
            </a:r>
          </a:p>
        </p:txBody>
      </p:sp>
      <p:sp>
        <p:nvSpPr>
          <p:cNvPr name="TextBox 14" id="14"/>
          <p:cNvSpPr txBox="true"/>
          <p:nvPr/>
        </p:nvSpPr>
        <p:spPr>
          <a:xfrm rot="0">
            <a:off x="10749037" y="5458360"/>
            <a:ext cx="4518846" cy="566268"/>
          </a:xfrm>
          <a:prstGeom prst="rect">
            <a:avLst/>
          </a:prstGeom>
        </p:spPr>
        <p:txBody>
          <a:bodyPr anchor="t" rtlCol="false" tIns="0" lIns="0" bIns="0" rIns="0">
            <a:spAutoFit/>
          </a:bodyPr>
          <a:lstStyle/>
          <a:p>
            <a:pPr algn="l" marL="0" indent="0" lvl="0">
              <a:lnSpc>
                <a:spcPts val="2276"/>
              </a:lnSpc>
            </a:pPr>
            <a:r>
              <a:rPr lang="en-US" b="true" sz="1738">
                <a:solidFill>
                  <a:srgbClr val="FFFFFF"/>
                </a:solidFill>
                <a:latin typeface="Montserrat Bold"/>
                <a:ea typeface="Montserrat Bold"/>
                <a:cs typeface="Montserrat Bold"/>
                <a:sym typeface="Montserrat Bold"/>
              </a:rPr>
              <a:t>LEVEL 2: SECTOR 7 — RAIDER LOGIC GRID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72800"/>
            <a:ext cx="1249152" cy="207271"/>
          </a:xfrm>
          <a:prstGeom prst="rect">
            <a:avLst/>
          </a:prstGeom>
        </p:spPr>
        <p:txBody>
          <a:bodyPr anchor="t" rtlCol="false" tIns="0" lIns="0" bIns="0" rIns="0">
            <a:spAutoFit/>
          </a:bodyPr>
          <a:lstStyle/>
          <a:p>
            <a:pPr algn="l" marL="0" indent="0" lvl="0">
              <a:lnSpc>
                <a:spcPts val="1700"/>
              </a:lnSpc>
              <a:spcBef>
                <a:spcPct val="0"/>
              </a:spcBef>
            </a:pPr>
            <a:r>
              <a:rPr lang="en-US" sz="1214">
                <a:solidFill>
                  <a:srgbClr val="FFFFFF"/>
                </a:solidFill>
                <a:latin typeface="Montserrat"/>
                <a:ea typeface="Montserrat"/>
                <a:cs typeface="Montserrat"/>
                <a:sym typeface="Montserrat"/>
              </a:rPr>
              <a:t>NEXT SLIDE</a:t>
            </a:r>
          </a:p>
        </p:txBody>
      </p:sp>
      <p:sp>
        <p:nvSpPr>
          <p:cNvPr name="TextBox 5" id="5"/>
          <p:cNvSpPr txBox="true"/>
          <p:nvPr/>
        </p:nvSpPr>
        <p:spPr>
          <a:xfrm rot="0">
            <a:off x="2887792" y="754735"/>
            <a:ext cx="1249152" cy="416821"/>
          </a:xfrm>
          <a:prstGeom prst="rect">
            <a:avLst/>
          </a:prstGeom>
        </p:spPr>
        <p:txBody>
          <a:bodyPr anchor="t" rtlCol="false" tIns="0" lIns="0" bIns="0" rIns="0">
            <a:spAutoFit/>
          </a:bodyPr>
          <a:lstStyle/>
          <a:p>
            <a:pPr algn="l" marL="0" indent="0" lvl="0">
              <a:lnSpc>
                <a:spcPts val="1700"/>
              </a:lnSpc>
            </a:pPr>
            <a:r>
              <a:rPr lang="en-US" sz="1214">
                <a:solidFill>
                  <a:srgbClr val="FFFFFF"/>
                </a:solidFill>
                <a:latin typeface="Montserrat"/>
                <a:ea typeface="Montserrat"/>
                <a:cs typeface="Montserrat"/>
                <a:sym typeface="Montserrat"/>
              </a:rPr>
              <a:t>STUDIO</a:t>
            </a:r>
          </a:p>
          <a:p>
            <a:pPr algn="l" marL="0" indent="0" lvl="0">
              <a:lnSpc>
                <a:spcPts val="1700"/>
              </a:lnSpc>
            </a:pPr>
            <a:r>
              <a:rPr lang="en-US" sz="1214">
                <a:solidFill>
                  <a:srgbClr val="FFFFFF"/>
                </a:solidFill>
                <a:latin typeface="Montserrat"/>
                <a:ea typeface="Montserrat"/>
                <a:cs typeface="Montserrat"/>
                <a:sym typeface="Montserrat"/>
              </a:rPr>
              <a:t>SHODWE</a:t>
            </a:r>
          </a:p>
        </p:txBody>
      </p:sp>
      <p:sp>
        <p:nvSpPr>
          <p:cNvPr name="TextBox 6" id="6"/>
          <p:cNvSpPr txBox="true"/>
          <p:nvPr/>
        </p:nvSpPr>
        <p:spPr>
          <a:xfrm rot="0">
            <a:off x="2078860" y="9620917"/>
            <a:ext cx="1058601" cy="207271"/>
          </a:xfrm>
          <a:prstGeom prst="rect">
            <a:avLst/>
          </a:prstGeom>
        </p:spPr>
        <p:txBody>
          <a:bodyPr anchor="t" rtlCol="false" tIns="0" lIns="0" bIns="0" rIns="0">
            <a:spAutoFit/>
          </a:bodyPr>
          <a:lstStyle/>
          <a:p>
            <a:pPr algn="l" marL="0" indent="0" lvl="0">
              <a:lnSpc>
                <a:spcPts val="1700"/>
              </a:lnSpc>
              <a:spcBef>
                <a:spcPct val="0"/>
              </a:spcBef>
            </a:pPr>
            <a:r>
              <a:rPr lang="en-US" sz="1214">
                <a:solidFill>
                  <a:srgbClr val="FFFFFF"/>
                </a:solidFill>
                <a:latin typeface="Montserrat"/>
                <a:ea typeface="Montserrat"/>
                <a:cs typeface="Montserrat"/>
                <a:sym typeface="Montserrat"/>
              </a:rPr>
              <a:t>PAGE 05</a:t>
            </a:r>
          </a:p>
        </p:txBody>
      </p:sp>
      <p:sp>
        <p:nvSpPr>
          <p:cNvPr name="TextBox 7" id="7"/>
          <p:cNvSpPr txBox="true"/>
          <p:nvPr/>
        </p:nvSpPr>
        <p:spPr>
          <a:xfrm rot="0">
            <a:off x="5811365" y="2240038"/>
            <a:ext cx="6665271" cy="1104190"/>
          </a:xfrm>
          <a:prstGeom prst="rect">
            <a:avLst/>
          </a:prstGeom>
        </p:spPr>
        <p:txBody>
          <a:bodyPr anchor="t" rtlCol="false" tIns="0" lIns="0" bIns="0" rIns="0">
            <a:spAutoFit/>
          </a:bodyPr>
          <a:lstStyle/>
          <a:p>
            <a:pPr algn="ctr" marL="0" indent="0" lvl="0">
              <a:lnSpc>
                <a:spcPts val="8998"/>
              </a:lnSpc>
            </a:pPr>
            <a:r>
              <a:rPr lang="en-US" sz="6869">
                <a:solidFill>
                  <a:srgbClr val="FFFFFF"/>
                </a:solidFill>
                <a:latin typeface="Montserrat"/>
                <a:ea typeface="Montserrat"/>
                <a:cs typeface="Montserrat"/>
                <a:sym typeface="Montserrat"/>
              </a:rPr>
              <a:t>GAME</a:t>
            </a:r>
          </a:p>
        </p:txBody>
      </p:sp>
      <p:sp>
        <p:nvSpPr>
          <p:cNvPr name="TextBox 8" id="8"/>
          <p:cNvSpPr txBox="true"/>
          <p:nvPr/>
        </p:nvSpPr>
        <p:spPr>
          <a:xfrm rot="0">
            <a:off x="5279540" y="3088597"/>
            <a:ext cx="7728920" cy="1104190"/>
          </a:xfrm>
          <a:prstGeom prst="rect">
            <a:avLst/>
          </a:prstGeom>
        </p:spPr>
        <p:txBody>
          <a:bodyPr anchor="t" rtlCol="false" tIns="0" lIns="0" bIns="0" rIns="0">
            <a:spAutoFit/>
          </a:bodyPr>
          <a:lstStyle/>
          <a:p>
            <a:pPr algn="ctr" marL="0" indent="0" lvl="0">
              <a:lnSpc>
                <a:spcPts val="8998"/>
              </a:lnSpc>
            </a:pPr>
            <a:r>
              <a:rPr lang="en-US" b="true" sz="6869">
                <a:solidFill>
                  <a:srgbClr val="FFFFFF"/>
                </a:solidFill>
                <a:latin typeface="Montserrat Bold"/>
                <a:ea typeface="Montserrat Bold"/>
                <a:cs typeface="Montserrat Bold"/>
                <a:sym typeface="Montserrat Bold"/>
              </a:rPr>
              <a:t>MECHANICS</a:t>
            </a:r>
          </a:p>
        </p:txBody>
      </p:sp>
      <p:sp>
        <p:nvSpPr>
          <p:cNvPr name="Freeform 9" id="9"/>
          <p:cNvSpPr/>
          <p:nvPr/>
        </p:nvSpPr>
        <p:spPr>
          <a:xfrm flipH="false" flipV="false" rot="0">
            <a:off x="1838068" y="4507270"/>
            <a:ext cx="6908948" cy="4447635"/>
          </a:xfrm>
          <a:custGeom>
            <a:avLst/>
            <a:gdLst/>
            <a:ahLst/>
            <a:cxnLst/>
            <a:rect r="r" b="b" t="t" l="l"/>
            <a:pathLst>
              <a:path h="4447635" w="6908948">
                <a:moveTo>
                  <a:pt x="0" y="0"/>
                </a:moveTo>
                <a:lnTo>
                  <a:pt x="6908948" y="0"/>
                </a:lnTo>
                <a:lnTo>
                  <a:pt x="6908948" y="4447635"/>
                </a:lnTo>
                <a:lnTo>
                  <a:pt x="0" y="4447635"/>
                </a:lnTo>
                <a:lnTo>
                  <a:pt x="0" y="0"/>
                </a:lnTo>
                <a:close/>
              </a:path>
            </a:pathLst>
          </a:custGeom>
          <a:blipFill>
            <a:blip r:embed="rId5"/>
            <a:stretch>
              <a:fillRect l="0" t="0" r="0" b="0"/>
            </a:stretch>
          </a:blipFill>
        </p:spPr>
      </p:sp>
      <p:sp>
        <p:nvSpPr>
          <p:cNvPr name="Freeform 10" id="10"/>
          <p:cNvSpPr/>
          <p:nvPr/>
        </p:nvSpPr>
        <p:spPr>
          <a:xfrm flipH="false" flipV="false" rot="0">
            <a:off x="9492951" y="4549970"/>
            <a:ext cx="6799777" cy="4351857"/>
          </a:xfrm>
          <a:custGeom>
            <a:avLst/>
            <a:gdLst/>
            <a:ahLst/>
            <a:cxnLst/>
            <a:rect r="r" b="b" t="t" l="l"/>
            <a:pathLst>
              <a:path h="4351857" w="6799777">
                <a:moveTo>
                  <a:pt x="0" y="0"/>
                </a:moveTo>
                <a:lnTo>
                  <a:pt x="6799777" y="0"/>
                </a:lnTo>
                <a:lnTo>
                  <a:pt x="6799777" y="4351857"/>
                </a:lnTo>
                <a:lnTo>
                  <a:pt x="0" y="4351857"/>
                </a:lnTo>
                <a:lnTo>
                  <a:pt x="0" y="0"/>
                </a:lnTo>
                <a:close/>
              </a:path>
            </a:pathLst>
          </a:custGeom>
          <a:blipFill>
            <a:blip r:embed="rId6"/>
            <a:stretch>
              <a:fillRect l="0" t="0" r="0" b="0"/>
            </a:stretch>
          </a:blipFill>
        </p:spPr>
      </p:sp>
      <p:sp>
        <p:nvSpPr>
          <p:cNvPr name="TextBox 11" id="11"/>
          <p:cNvSpPr txBox="true"/>
          <p:nvPr/>
        </p:nvSpPr>
        <p:spPr>
          <a:xfrm rot="0">
            <a:off x="3137460" y="6123887"/>
            <a:ext cx="4397916" cy="1516761"/>
          </a:xfrm>
          <a:prstGeom prst="rect">
            <a:avLst/>
          </a:prstGeom>
        </p:spPr>
        <p:txBody>
          <a:bodyPr anchor="t" rtlCol="false" tIns="0" lIns="0" bIns="0" rIns="0">
            <a:spAutoFit/>
          </a:bodyPr>
          <a:lstStyle/>
          <a:p>
            <a:pPr algn="l" marL="0" indent="0" lvl="0">
              <a:lnSpc>
                <a:spcPts val="1572"/>
              </a:lnSpc>
            </a:pPr>
            <a:r>
              <a:rPr lang="en-US" sz="1200">
                <a:solidFill>
                  <a:srgbClr val="FFFFFF"/>
                </a:solidFill>
                <a:latin typeface="Montserrat"/>
                <a:ea typeface="Montserrat"/>
                <a:cs typeface="Montserrat"/>
                <a:sym typeface="Montserrat"/>
              </a:rPr>
              <a:t>CONCEPT: Signals &amp; Systems — Waveform Matching &amp; SNR</a:t>
            </a:r>
          </a:p>
          <a:p>
            <a:pPr algn="l" marL="0" indent="0" lvl="0">
              <a:lnSpc>
                <a:spcPts val="1572"/>
              </a:lnSpc>
            </a:pPr>
            <a:r>
              <a:rPr lang="en-US" sz="1200">
                <a:solidFill>
                  <a:srgbClr val="FFFFFF"/>
                </a:solidFill>
                <a:latin typeface="Montserrat"/>
                <a:ea typeface="Montserrat"/>
                <a:cs typeface="Montserrat"/>
                <a:sym typeface="Montserrat"/>
              </a:rPr>
              <a:t>GAMEPLAY: Tune a potentiometer to morph chaotic waveforms into a target sine wave. Match the signal within tolerance to intercept the Rebel broadcast and unlock the path to Shambhala.</a:t>
            </a:r>
          </a:p>
          <a:p>
            <a:pPr algn="l" marL="0" indent="0" lvl="0">
              <a:lnSpc>
                <a:spcPts val="1572"/>
              </a:lnSpc>
            </a:pPr>
            <a:r>
              <a:rPr lang="en-US" sz="1200">
                <a:solidFill>
                  <a:srgbClr val="FFFFFF"/>
                </a:solidFill>
                <a:latin typeface="Montserrat"/>
                <a:ea typeface="Montserrat"/>
                <a:cs typeface="Montserrat"/>
                <a:sym typeface="Montserrat"/>
              </a:rPr>
              <a:t>SKILL: Analog signal intuition, frequency awareness, noise filtering.</a:t>
            </a:r>
          </a:p>
        </p:txBody>
      </p:sp>
      <p:sp>
        <p:nvSpPr>
          <p:cNvPr name="TextBox 12" id="12"/>
          <p:cNvSpPr txBox="true"/>
          <p:nvPr/>
        </p:nvSpPr>
        <p:spPr>
          <a:xfrm rot="0">
            <a:off x="3137460" y="5458360"/>
            <a:ext cx="4518846" cy="566268"/>
          </a:xfrm>
          <a:prstGeom prst="rect">
            <a:avLst/>
          </a:prstGeom>
        </p:spPr>
        <p:txBody>
          <a:bodyPr anchor="t" rtlCol="false" tIns="0" lIns="0" bIns="0" rIns="0">
            <a:spAutoFit/>
          </a:bodyPr>
          <a:lstStyle/>
          <a:p>
            <a:pPr algn="l" marL="0" indent="0" lvl="0">
              <a:lnSpc>
                <a:spcPts val="2276"/>
              </a:lnSpc>
            </a:pPr>
            <a:r>
              <a:rPr lang="en-US" b="true" sz="1738">
                <a:solidFill>
                  <a:srgbClr val="FFFFFF"/>
                </a:solidFill>
                <a:latin typeface="Montserrat Bold"/>
                <a:ea typeface="Montserrat Bold"/>
                <a:cs typeface="Montserrat Bold"/>
                <a:sym typeface="Montserrat Bold"/>
              </a:rPr>
              <a:t>Level 3: New World — Rebel Signal Intercept</a:t>
            </a:r>
          </a:p>
        </p:txBody>
      </p:sp>
      <p:sp>
        <p:nvSpPr>
          <p:cNvPr name="TextBox 13" id="13"/>
          <p:cNvSpPr txBox="true"/>
          <p:nvPr/>
        </p:nvSpPr>
        <p:spPr>
          <a:xfrm rot="0">
            <a:off x="10749037" y="6123887"/>
            <a:ext cx="4397916" cy="1135761"/>
          </a:xfrm>
          <a:prstGeom prst="rect">
            <a:avLst/>
          </a:prstGeom>
        </p:spPr>
        <p:txBody>
          <a:bodyPr anchor="t" rtlCol="false" tIns="0" lIns="0" bIns="0" rIns="0">
            <a:spAutoFit/>
          </a:bodyPr>
          <a:lstStyle/>
          <a:p>
            <a:pPr algn="l" marL="0" indent="0" lvl="0">
              <a:lnSpc>
                <a:spcPts val="1572"/>
              </a:lnSpc>
            </a:pPr>
            <a:r>
              <a:rPr lang="en-US" sz="1200">
                <a:solidFill>
                  <a:srgbClr val="FFFFFF"/>
                </a:solidFill>
                <a:latin typeface="Montserrat"/>
                <a:ea typeface="Montserrat"/>
                <a:cs typeface="Montserrat"/>
                <a:sym typeface="Montserrat"/>
              </a:rPr>
              <a:t>CONCEPT: 2's Complement &amp; Voltage Dividers</a:t>
            </a:r>
          </a:p>
          <a:p>
            <a:pPr algn="l" marL="0" indent="0" lvl="0">
              <a:lnSpc>
                <a:spcPts val="1572"/>
              </a:lnSpc>
            </a:pPr>
            <a:r>
              <a:rPr lang="en-US" sz="1200">
                <a:solidFill>
                  <a:srgbClr val="FFFFFF"/>
                </a:solidFill>
                <a:latin typeface="Montserrat"/>
                <a:ea typeface="Montserrat"/>
                <a:cs typeface="Montserrat"/>
                <a:sym typeface="Montserrat"/>
              </a:rPr>
              <a:t>GAMEPLAY: Multi-phase challenge — calculate 2's complement of encoded bounty codes, then verify voltage output using a multimeter on a resistor divider circuit. Correct values unlock the Serum vault.</a:t>
            </a:r>
          </a:p>
          <a:p>
            <a:pPr algn="l" marL="0" indent="0" lvl="0">
              <a:lnSpc>
                <a:spcPts val="1572"/>
              </a:lnSpc>
            </a:pPr>
            <a:r>
              <a:rPr lang="en-US" sz="1200">
                <a:solidFill>
                  <a:srgbClr val="FFFFFF"/>
                </a:solidFill>
                <a:latin typeface="Montserrat"/>
                <a:ea typeface="Montserrat"/>
                <a:cs typeface="Montserrat"/>
                <a:sym typeface="Montserrat"/>
              </a:rPr>
              <a:t>SKILL: Binary arithmetic, circuit measurement, precision.</a:t>
            </a:r>
          </a:p>
        </p:txBody>
      </p:sp>
      <p:sp>
        <p:nvSpPr>
          <p:cNvPr name="TextBox 14" id="14"/>
          <p:cNvSpPr txBox="true"/>
          <p:nvPr/>
        </p:nvSpPr>
        <p:spPr>
          <a:xfrm rot="0">
            <a:off x="10749037" y="5458360"/>
            <a:ext cx="4518846" cy="566268"/>
          </a:xfrm>
          <a:prstGeom prst="rect">
            <a:avLst/>
          </a:prstGeom>
        </p:spPr>
        <p:txBody>
          <a:bodyPr anchor="t" rtlCol="false" tIns="0" lIns="0" bIns="0" rIns="0">
            <a:spAutoFit/>
          </a:bodyPr>
          <a:lstStyle/>
          <a:p>
            <a:pPr algn="l" marL="0" indent="0" lvl="0">
              <a:lnSpc>
                <a:spcPts val="2276"/>
              </a:lnSpc>
            </a:pPr>
            <a:r>
              <a:rPr lang="en-US" b="true" sz="1738">
                <a:solidFill>
                  <a:srgbClr val="FFFFFF"/>
                </a:solidFill>
                <a:latin typeface="Montserrat Bold"/>
                <a:ea typeface="Montserrat Bold"/>
                <a:cs typeface="Montserrat Bold"/>
                <a:sym typeface="Montserrat Bold"/>
              </a:rPr>
              <a:t>Level 4: Shambhala Gate — Serum Verification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581" y="638491"/>
            <a:ext cx="649831" cy="765590"/>
          </a:xfrm>
          <a:custGeom>
            <a:avLst/>
            <a:gdLst/>
            <a:ahLst/>
            <a:cxnLst/>
            <a:rect r="r" b="b" t="t" l="l"/>
            <a:pathLst>
              <a:path h="765590" w="649831">
                <a:moveTo>
                  <a:pt x="0" y="0"/>
                </a:moveTo>
                <a:lnTo>
                  <a:pt x="649831" y="0"/>
                </a:lnTo>
                <a:lnTo>
                  <a:pt x="649831" y="765590"/>
                </a:lnTo>
                <a:lnTo>
                  <a:pt x="0" y="765590"/>
                </a:lnTo>
                <a:lnTo>
                  <a:pt x="0" y="0"/>
                </a:lnTo>
                <a:close/>
              </a:path>
            </a:pathLst>
          </a:custGeom>
          <a:blipFill>
            <a:blip r:embed="rId3"/>
            <a:stretch>
              <a:fillRect l="0" t="0" r="0" b="0"/>
            </a:stretch>
          </a:blipFill>
        </p:spPr>
      </p:sp>
      <p:sp>
        <p:nvSpPr>
          <p:cNvPr name="Freeform 4" id="4"/>
          <p:cNvSpPr/>
          <p:nvPr/>
        </p:nvSpPr>
        <p:spPr>
          <a:xfrm flipH="false" flipV="false" rot="0">
            <a:off x="1690722" y="5009961"/>
            <a:ext cx="1027636" cy="719346"/>
          </a:xfrm>
          <a:custGeom>
            <a:avLst/>
            <a:gdLst/>
            <a:ahLst/>
            <a:cxnLst/>
            <a:rect r="r" b="b" t="t" l="l"/>
            <a:pathLst>
              <a:path h="719346" w="1027636">
                <a:moveTo>
                  <a:pt x="0" y="0"/>
                </a:moveTo>
                <a:lnTo>
                  <a:pt x="1027637" y="0"/>
                </a:lnTo>
                <a:lnTo>
                  <a:pt x="1027637" y="719346"/>
                </a:lnTo>
                <a:lnTo>
                  <a:pt x="0" y="719346"/>
                </a:lnTo>
                <a:lnTo>
                  <a:pt x="0" y="0"/>
                </a:lnTo>
                <a:close/>
              </a:path>
            </a:pathLst>
          </a:custGeom>
          <a:blipFill>
            <a:blip r:embed="rId4"/>
            <a:stretch>
              <a:fillRect l="0" t="0" r="0" b="0"/>
            </a:stretch>
          </a:blipFill>
        </p:spPr>
      </p:sp>
      <p:sp>
        <p:nvSpPr>
          <p:cNvPr name="TextBox 5" id="5"/>
          <p:cNvSpPr txBox="true"/>
          <p:nvPr/>
        </p:nvSpPr>
        <p:spPr>
          <a:xfrm rot="0">
            <a:off x="16010148" y="863275"/>
            <a:ext cx="1249152"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NEXT SLIDE</a:t>
            </a:r>
          </a:p>
        </p:txBody>
      </p:sp>
      <p:sp>
        <p:nvSpPr>
          <p:cNvPr name="TextBox 6" id="6"/>
          <p:cNvSpPr txBox="true"/>
          <p:nvPr/>
        </p:nvSpPr>
        <p:spPr>
          <a:xfrm rot="0">
            <a:off x="2887792" y="745210"/>
            <a:ext cx="1249152" cy="550446"/>
          </a:xfrm>
          <a:prstGeom prst="rect">
            <a:avLst/>
          </a:prstGeom>
        </p:spPr>
        <p:txBody>
          <a:bodyPr anchor="t" rtlCol="false" tIns="0" lIns="0" bIns="0" rIns="0">
            <a:spAutoFit/>
          </a:bodyPr>
          <a:lstStyle/>
          <a:p>
            <a:pPr algn="l" marL="0" indent="0" lvl="0">
              <a:lnSpc>
                <a:spcPts val="2210"/>
              </a:lnSpc>
            </a:pPr>
            <a:r>
              <a:rPr lang="en-US" sz="1578">
                <a:solidFill>
                  <a:srgbClr val="FFFFFF"/>
                </a:solidFill>
                <a:latin typeface="Montserrat"/>
                <a:ea typeface="Montserrat"/>
                <a:cs typeface="Montserrat"/>
                <a:sym typeface="Montserrat"/>
              </a:rPr>
              <a:t>IETE</a:t>
            </a:r>
          </a:p>
          <a:p>
            <a:pPr algn="l" marL="0" indent="0" lvl="0">
              <a:lnSpc>
                <a:spcPts val="2210"/>
              </a:lnSpc>
            </a:pPr>
            <a:r>
              <a:rPr lang="en-US" sz="1578">
                <a:solidFill>
                  <a:srgbClr val="FFFFFF"/>
                </a:solidFill>
                <a:latin typeface="Montserrat"/>
                <a:ea typeface="Montserrat"/>
                <a:cs typeface="Montserrat"/>
                <a:sym typeface="Montserrat"/>
              </a:rPr>
              <a:t>CHAPTER</a:t>
            </a:r>
          </a:p>
        </p:txBody>
      </p:sp>
      <p:sp>
        <p:nvSpPr>
          <p:cNvPr name="TextBox 7" id="7"/>
          <p:cNvSpPr txBox="true"/>
          <p:nvPr/>
        </p:nvSpPr>
        <p:spPr>
          <a:xfrm rot="0">
            <a:off x="2078860" y="9611392"/>
            <a:ext cx="1058601"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PAGE 06</a:t>
            </a:r>
          </a:p>
        </p:txBody>
      </p:sp>
      <p:sp>
        <p:nvSpPr>
          <p:cNvPr name="TextBox 8" id="8"/>
          <p:cNvSpPr txBox="true"/>
          <p:nvPr/>
        </p:nvSpPr>
        <p:spPr>
          <a:xfrm rot="0">
            <a:off x="5811365" y="2240038"/>
            <a:ext cx="6665271" cy="1104190"/>
          </a:xfrm>
          <a:prstGeom prst="rect">
            <a:avLst/>
          </a:prstGeom>
        </p:spPr>
        <p:txBody>
          <a:bodyPr anchor="t" rtlCol="false" tIns="0" lIns="0" bIns="0" rIns="0">
            <a:spAutoFit/>
          </a:bodyPr>
          <a:lstStyle/>
          <a:p>
            <a:pPr algn="ctr" marL="0" indent="0" lvl="0">
              <a:lnSpc>
                <a:spcPts val="8998"/>
              </a:lnSpc>
            </a:pPr>
            <a:r>
              <a:rPr lang="en-US" sz="6869">
                <a:solidFill>
                  <a:srgbClr val="FFFFFF"/>
                </a:solidFill>
                <a:latin typeface="Montserrat"/>
                <a:ea typeface="Montserrat"/>
                <a:cs typeface="Montserrat"/>
                <a:sym typeface="Montserrat"/>
              </a:rPr>
              <a:t>EVENT OPS</a:t>
            </a:r>
          </a:p>
        </p:txBody>
      </p:sp>
      <p:sp>
        <p:nvSpPr>
          <p:cNvPr name="TextBox 9" id="9"/>
          <p:cNvSpPr txBox="true"/>
          <p:nvPr/>
        </p:nvSpPr>
        <p:spPr>
          <a:xfrm rot="0">
            <a:off x="5279540" y="3088597"/>
            <a:ext cx="7728920" cy="1104190"/>
          </a:xfrm>
          <a:prstGeom prst="rect">
            <a:avLst/>
          </a:prstGeom>
        </p:spPr>
        <p:txBody>
          <a:bodyPr anchor="t" rtlCol="false" tIns="0" lIns="0" bIns="0" rIns="0">
            <a:spAutoFit/>
          </a:bodyPr>
          <a:lstStyle/>
          <a:p>
            <a:pPr algn="ctr" marL="0" indent="0" lvl="0">
              <a:lnSpc>
                <a:spcPts val="8998"/>
              </a:lnSpc>
            </a:pPr>
            <a:r>
              <a:rPr lang="en-US" b="true" sz="6869">
                <a:solidFill>
                  <a:srgbClr val="FFFFFF"/>
                </a:solidFill>
                <a:latin typeface="Montserrat Bold"/>
                <a:ea typeface="Montserrat Bold"/>
                <a:cs typeface="Montserrat Bold"/>
                <a:sym typeface="Montserrat Bold"/>
              </a:rPr>
              <a:t>&amp; FLOW</a:t>
            </a:r>
          </a:p>
        </p:txBody>
      </p:sp>
      <p:sp>
        <p:nvSpPr>
          <p:cNvPr name="TextBox 10" id="10"/>
          <p:cNvSpPr txBox="true"/>
          <p:nvPr/>
        </p:nvSpPr>
        <p:spPr>
          <a:xfrm rot="0">
            <a:off x="2722192" y="6040570"/>
            <a:ext cx="3726211" cy="1797485"/>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Each player completes the full 4-level maze in 6–8 minutes, ensuring smooth queue management and high participant turnover throughout the event. Efficient reset mechanics keep wait times minimal and energy high.</a:t>
            </a:r>
          </a:p>
        </p:txBody>
      </p:sp>
      <p:sp>
        <p:nvSpPr>
          <p:cNvPr name="TextBox 11" id="11"/>
          <p:cNvSpPr txBox="true"/>
          <p:nvPr/>
        </p:nvSpPr>
        <p:spPr>
          <a:xfrm rot="0">
            <a:off x="7688545" y="6040570"/>
            <a:ext cx="3630878" cy="1797485"/>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Players who fail a level are diverted to the FLUX LANDS trap zone. One retry is granted upon sacrificing an energy prop token — adding dramatic stakes and maintaining immersive narrative tension within the experience.</a:t>
            </a:r>
          </a:p>
        </p:txBody>
      </p:sp>
      <p:sp>
        <p:nvSpPr>
          <p:cNvPr name="TextBox 12" id="12"/>
          <p:cNvSpPr txBox="true"/>
          <p:nvPr/>
        </p:nvSpPr>
        <p:spPr>
          <a:xfrm rot="0">
            <a:off x="12476635" y="6040570"/>
            <a:ext cx="4012210" cy="1540310"/>
          </a:xfrm>
          <a:prstGeom prst="rect">
            <a:avLst/>
          </a:prstGeom>
        </p:spPr>
        <p:txBody>
          <a:bodyPr anchor="t" rtlCol="false" tIns="0" lIns="0" bIns="0" rIns="0">
            <a:spAutoFit/>
          </a:bodyPr>
          <a:lstStyle/>
          <a:p>
            <a:pPr algn="l" marL="0" indent="0" lvl="0">
              <a:lnSpc>
                <a:spcPts val="2043"/>
              </a:lnSpc>
            </a:pPr>
            <a:r>
              <a:rPr lang="en-US" sz="1559">
                <a:solidFill>
                  <a:srgbClr val="FFFFFF"/>
                </a:solidFill>
                <a:latin typeface="Montserrat"/>
                <a:ea typeface="Montserrat"/>
                <a:cs typeface="Montserrat"/>
                <a:sym typeface="Montserrat"/>
              </a:rPr>
              <a:t>Hall stall features a dark backdrop, red neon LED strips, ambient radio chatter audio, and thematic dystopian props — serum vials, laminated hint cards, and foam panels — creating a fully immersive cyberpunk atmosphere.</a:t>
            </a:r>
          </a:p>
        </p:txBody>
      </p:sp>
      <p:sp>
        <p:nvSpPr>
          <p:cNvPr name="TextBox 13" id="13"/>
          <p:cNvSpPr txBox="true"/>
          <p:nvPr/>
        </p:nvSpPr>
        <p:spPr>
          <a:xfrm rot="0">
            <a:off x="2793665" y="4981551"/>
            <a:ext cx="2391548" cy="739963"/>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Playtime &amp; Throughput</a:t>
            </a:r>
          </a:p>
        </p:txBody>
      </p:sp>
      <p:sp>
        <p:nvSpPr>
          <p:cNvPr name="Freeform 14" id="14"/>
          <p:cNvSpPr/>
          <p:nvPr/>
        </p:nvSpPr>
        <p:spPr>
          <a:xfrm flipH="false" flipV="false" rot="0">
            <a:off x="6647611" y="4926744"/>
            <a:ext cx="896578" cy="879767"/>
          </a:xfrm>
          <a:custGeom>
            <a:avLst/>
            <a:gdLst/>
            <a:ahLst/>
            <a:cxnLst/>
            <a:rect r="r" b="b" t="t" l="l"/>
            <a:pathLst>
              <a:path h="879767" w="896578">
                <a:moveTo>
                  <a:pt x="0" y="0"/>
                </a:moveTo>
                <a:lnTo>
                  <a:pt x="896578" y="0"/>
                </a:lnTo>
                <a:lnTo>
                  <a:pt x="896578" y="879767"/>
                </a:lnTo>
                <a:lnTo>
                  <a:pt x="0" y="879767"/>
                </a:lnTo>
                <a:lnTo>
                  <a:pt x="0" y="0"/>
                </a:lnTo>
                <a:close/>
              </a:path>
            </a:pathLst>
          </a:custGeom>
          <a:blipFill>
            <a:blip r:embed="rId5"/>
            <a:stretch>
              <a:fillRect l="0" t="0" r="0" b="0"/>
            </a:stretch>
          </a:blipFill>
        </p:spPr>
      </p:sp>
      <p:sp>
        <p:nvSpPr>
          <p:cNvPr name="TextBox 15" id="15"/>
          <p:cNvSpPr txBox="true"/>
          <p:nvPr/>
        </p:nvSpPr>
        <p:spPr>
          <a:xfrm rot="0">
            <a:off x="7688545" y="4981551"/>
            <a:ext cx="2786618" cy="739963"/>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Failure State &amp; Retry</a:t>
            </a:r>
          </a:p>
        </p:txBody>
      </p:sp>
      <p:sp>
        <p:nvSpPr>
          <p:cNvPr name="Freeform 16" id="16"/>
          <p:cNvSpPr/>
          <p:nvPr/>
        </p:nvSpPr>
        <p:spPr>
          <a:xfrm flipH="false" flipV="false" rot="0">
            <a:off x="11507213" y="4989506"/>
            <a:ext cx="760293" cy="761326"/>
          </a:xfrm>
          <a:custGeom>
            <a:avLst/>
            <a:gdLst/>
            <a:ahLst/>
            <a:cxnLst/>
            <a:rect r="r" b="b" t="t" l="l"/>
            <a:pathLst>
              <a:path h="761326" w="760293">
                <a:moveTo>
                  <a:pt x="0" y="0"/>
                </a:moveTo>
                <a:lnTo>
                  <a:pt x="760294" y="0"/>
                </a:lnTo>
                <a:lnTo>
                  <a:pt x="760294" y="761327"/>
                </a:lnTo>
                <a:lnTo>
                  <a:pt x="0" y="761327"/>
                </a:lnTo>
                <a:lnTo>
                  <a:pt x="0" y="0"/>
                </a:lnTo>
                <a:close/>
              </a:path>
            </a:pathLst>
          </a:custGeom>
          <a:blipFill>
            <a:blip r:embed="rId6"/>
            <a:stretch>
              <a:fillRect l="0" t="0" r="0" b="0"/>
            </a:stretch>
          </a:blipFill>
        </p:spPr>
      </p:sp>
      <p:sp>
        <p:nvSpPr>
          <p:cNvPr name="TextBox 17" id="17"/>
          <p:cNvSpPr txBox="true"/>
          <p:nvPr/>
        </p:nvSpPr>
        <p:spPr>
          <a:xfrm rot="0">
            <a:off x="12475417" y="4981551"/>
            <a:ext cx="2786618" cy="739963"/>
          </a:xfrm>
          <a:prstGeom prst="rect">
            <a:avLst/>
          </a:prstGeom>
        </p:spPr>
        <p:txBody>
          <a:bodyPr anchor="t" rtlCol="false" tIns="0" lIns="0" bIns="0" rIns="0">
            <a:spAutoFit/>
          </a:bodyPr>
          <a:lstStyle/>
          <a:p>
            <a:pPr algn="l" marL="0" indent="0" lvl="0">
              <a:lnSpc>
                <a:spcPts val="2959"/>
              </a:lnSpc>
            </a:pPr>
            <a:r>
              <a:rPr lang="en-US" b="true" sz="2259">
                <a:solidFill>
                  <a:srgbClr val="FFFFFF"/>
                </a:solidFill>
                <a:latin typeface="Montserrat Bold"/>
                <a:ea typeface="Montserrat Bold"/>
                <a:cs typeface="Montserrat Bold"/>
                <a:sym typeface="Montserrat Bold"/>
              </a:rPr>
              <a:t>Environment &amp; Setup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63275"/>
            <a:ext cx="1249152" cy="265536"/>
          </a:xfrm>
          <a:prstGeom prst="rect">
            <a:avLst/>
          </a:prstGeom>
        </p:spPr>
        <p:txBody>
          <a:bodyPr anchor="t" rtlCol="false" tIns="0" lIns="0" bIns="0" rIns="0">
            <a:spAutoFit/>
          </a:bodyPr>
          <a:lstStyle/>
          <a:p>
            <a:pPr algn="l" marL="0" indent="0" lvl="0">
              <a:lnSpc>
                <a:spcPts val="2164"/>
              </a:lnSpc>
              <a:spcBef>
                <a:spcPct val="0"/>
              </a:spcBef>
            </a:pPr>
            <a:r>
              <a:rPr lang="en-US" sz="1545">
                <a:solidFill>
                  <a:srgbClr val="FFFFFF"/>
                </a:solidFill>
                <a:latin typeface="Montserrat"/>
                <a:ea typeface="Montserrat"/>
                <a:cs typeface="Montserrat"/>
                <a:sym typeface="Montserrat"/>
              </a:rPr>
              <a:t>NEXT SLIDE</a:t>
            </a:r>
          </a:p>
        </p:txBody>
      </p:sp>
      <p:sp>
        <p:nvSpPr>
          <p:cNvPr name="TextBox 5" id="5"/>
          <p:cNvSpPr txBox="true"/>
          <p:nvPr/>
        </p:nvSpPr>
        <p:spPr>
          <a:xfrm rot="0">
            <a:off x="2887792" y="745210"/>
            <a:ext cx="1249152" cy="532236"/>
          </a:xfrm>
          <a:prstGeom prst="rect">
            <a:avLst/>
          </a:prstGeom>
        </p:spPr>
        <p:txBody>
          <a:bodyPr anchor="t" rtlCol="false" tIns="0" lIns="0" bIns="0" rIns="0">
            <a:spAutoFit/>
          </a:bodyPr>
          <a:lstStyle/>
          <a:p>
            <a:pPr algn="l" marL="0" indent="0" lvl="0">
              <a:lnSpc>
                <a:spcPts val="2164"/>
              </a:lnSpc>
            </a:pPr>
            <a:r>
              <a:rPr lang="en-US" sz="1545">
                <a:solidFill>
                  <a:srgbClr val="FFFFFF"/>
                </a:solidFill>
                <a:latin typeface="Montserrat"/>
                <a:ea typeface="Montserrat"/>
                <a:cs typeface="Montserrat"/>
                <a:sym typeface="Montserrat"/>
              </a:rPr>
              <a:t>SERUM</a:t>
            </a:r>
          </a:p>
          <a:p>
            <a:pPr algn="l" marL="0" indent="0" lvl="0">
              <a:lnSpc>
                <a:spcPts val="2164"/>
              </a:lnSpc>
            </a:pPr>
            <a:r>
              <a:rPr lang="en-US" sz="1545">
                <a:solidFill>
                  <a:srgbClr val="FFFFFF"/>
                </a:solidFill>
                <a:latin typeface="Montserrat"/>
                <a:ea typeface="Montserrat"/>
                <a:cs typeface="Montserrat"/>
                <a:sym typeface="Montserrat"/>
              </a:rPr>
              <a:t>HUNT</a:t>
            </a:r>
          </a:p>
        </p:txBody>
      </p:sp>
      <p:sp>
        <p:nvSpPr>
          <p:cNvPr name="TextBox 6" id="6"/>
          <p:cNvSpPr txBox="true"/>
          <p:nvPr/>
        </p:nvSpPr>
        <p:spPr>
          <a:xfrm rot="0">
            <a:off x="2078860" y="9611392"/>
            <a:ext cx="1058601" cy="265536"/>
          </a:xfrm>
          <a:prstGeom prst="rect">
            <a:avLst/>
          </a:prstGeom>
        </p:spPr>
        <p:txBody>
          <a:bodyPr anchor="t" rtlCol="false" tIns="0" lIns="0" bIns="0" rIns="0">
            <a:spAutoFit/>
          </a:bodyPr>
          <a:lstStyle/>
          <a:p>
            <a:pPr algn="l" marL="0" indent="0" lvl="0">
              <a:lnSpc>
                <a:spcPts val="2164"/>
              </a:lnSpc>
              <a:spcBef>
                <a:spcPct val="0"/>
              </a:spcBef>
            </a:pPr>
            <a:r>
              <a:rPr lang="en-US" sz="1545">
                <a:solidFill>
                  <a:srgbClr val="FFFFFF"/>
                </a:solidFill>
                <a:latin typeface="Montserrat"/>
                <a:ea typeface="Montserrat"/>
                <a:cs typeface="Montserrat"/>
                <a:sym typeface="Montserrat"/>
              </a:rPr>
              <a:t>PAGE 07</a:t>
            </a:r>
          </a:p>
        </p:txBody>
      </p:sp>
      <p:sp>
        <p:nvSpPr>
          <p:cNvPr name="TextBox 7" id="7"/>
          <p:cNvSpPr txBox="true"/>
          <p:nvPr/>
        </p:nvSpPr>
        <p:spPr>
          <a:xfrm rot="0">
            <a:off x="8564999" y="2160594"/>
            <a:ext cx="6665271" cy="1104190"/>
          </a:xfrm>
          <a:prstGeom prst="rect">
            <a:avLst/>
          </a:prstGeom>
        </p:spPr>
        <p:txBody>
          <a:bodyPr anchor="t" rtlCol="false" tIns="0" lIns="0" bIns="0" rIns="0">
            <a:spAutoFit/>
          </a:bodyPr>
          <a:lstStyle/>
          <a:p>
            <a:pPr algn="l" marL="0" indent="0" lvl="0">
              <a:lnSpc>
                <a:spcPts val="8998"/>
              </a:lnSpc>
            </a:pPr>
            <a:r>
              <a:rPr lang="en-US" sz="6869">
                <a:solidFill>
                  <a:srgbClr val="FFFFFF"/>
                </a:solidFill>
                <a:latin typeface="Montserrat"/>
                <a:ea typeface="Montserrat"/>
                <a:cs typeface="Montserrat"/>
                <a:sym typeface="Montserrat"/>
              </a:rPr>
              <a:t>RESOURCE &amp;</a:t>
            </a:r>
          </a:p>
        </p:txBody>
      </p:sp>
      <p:sp>
        <p:nvSpPr>
          <p:cNvPr name="TextBox 8" id="8"/>
          <p:cNvSpPr txBox="true"/>
          <p:nvPr/>
        </p:nvSpPr>
        <p:spPr>
          <a:xfrm rot="0">
            <a:off x="8564999" y="3009153"/>
            <a:ext cx="7728920" cy="1104190"/>
          </a:xfrm>
          <a:prstGeom prst="rect">
            <a:avLst/>
          </a:prstGeom>
        </p:spPr>
        <p:txBody>
          <a:bodyPr anchor="t" rtlCol="false" tIns="0" lIns="0" bIns="0" rIns="0">
            <a:spAutoFit/>
          </a:bodyPr>
          <a:lstStyle/>
          <a:p>
            <a:pPr algn="l" marL="0" indent="0" lvl="0">
              <a:lnSpc>
                <a:spcPts val="8998"/>
              </a:lnSpc>
            </a:pPr>
            <a:r>
              <a:rPr lang="en-US" b="true" sz="6869">
                <a:solidFill>
                  <a:srgbClr val="FFFFFF"/>
                </a:solidFill>
                <a:latin typeface="Montserrat Bold"/>
                <a:ea typeface="Montserrat Bold"/>
                <a:cs typeface="Montserrat Bold"/>
                <a:sym typeface="Montserrat Bold"/>
              </a:rPr>
              <a:t>BUDGET</a:t>
            </a:r>
          </a:p>
        </p:txBody>
      </p:sp>
      <p:sp>
        <p:nvSpPr>
          <p:cNvPr name="Freeform 9" id="9"/>
          <p:cNvSpPr/>
          <p:nvPr/>
        </p:nvSpPr>
        <p:spPr>
          <a:xfrm flipH="false" flipV="false" rot="0">
            <a:off x="8564999" y="4516131"/>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9239979" y="5152923"/>
            <a:ext cx="6527022" cy="997842"/>
          </a:xfrm>
          <a:prstGeom prst="rect">
            <a:avLst/>
          </a:prstGeom>
        </p:spPr>
        <p:txBody>
          <a:bodyPr anchor="t" rtlCol="false" tIns="0" lIns="0" bIns="0" rIns="0">
            <a:spAutoFit/>
          </a:bodyPr>
          <a:lstStyle/>
          <a:p>
            <a:pPr algn="l" marL="0" indent="0" lvl="0">
              <a:lnSpc>
                <a:spcPts val="2000"/>
              </a:lnSpc>
            </a:pPr>
            <a:r>
              <a:rPr lang="en-US" sz="1527">
                <a:solidFill>
                  <a:srgbClr val="FFFFFF"/>
                </a:solidFill>
                <a:latin typeface="Montserrat"/>
                <a:ea typeface="Montserrat"/>
                <a:cs typeface="Montserrat"/>
                <a:sym typeface="Montserrat"/>
              </a:rPr>
              <a:t>Arduino / 555 timer circuits, toggle switches, LEDs, potentiometers, resistors, batteries, multimeters. All components are low-cost, widely available, and fully reusable across multiple event runs with fast-reset mechanics.</a:t>
            </a:r>
          </a:p>
        </p:txBody>
      </p:sp>
      <p:sp>
        <p:nvSpPr>
          <p:cNvPr name="TextBox 11" id="11"/>
          <p:cNvSpPr txBox="true"/>
          <p:nvPr/>
        </p:nvSpPr>
        <p:spPr>
          <a:xfrm rot="0">
            <a:off x="9235783" y="4565345"/>
            <a:ext cx="4518846" cy="350100"/>
          </a:xfrm>
          <a:prstGeom prst="rect">
            <a:avLst/>
          </a:prstGeom>
        </p:spPr>
        <p:txBody>
          <a:bodyPr anchor="t" rtlCol="false" tIns="0" lIns="0" bIns="0" rIns="0">
            <a:spAutoFit/>
          </a:bodyPr>
          <a:lstStyle/>
          <a:p>
            <a:pPr algn="l" marL="0" indent="0" lvl="0">
              <a:lnSpc>
                <a:spcPts val="2897"/>
              </a:lnSpc>
            </a:pPr>
            <a:r>
              <a:rPr lang="en-US" b="true" sz="2211">
                <a:solidFill>
                  <a:srgbClr val="FFFFFF"/>
                </a:solidFill>
                <a:latin typeface="Montserrat Bold"/>
                <a:ea typeface="Montserrat Bold"/>
                <a:cs typeface="Montserrat Bold"/>
                <a:sym typeface="Montserrat Bold"/>
              </a:rPr>
              <a:t>Electronics &amp; Hardware</a:t>
            </a:r>
          </a:p>
        </p:txBody>
      </p:sp>
      <p:sp>
        <p:nvSpPr>
          <p:cNvPr name="Freeform 12" id="12"/>
          <p:cNvSpPr/>
          <p:nvPr/>
        </p:nvSpPr>
        <p:spPr>
          <a:xfrm flipH="false" flipV="false" rot="0">
            <a:off x="8564999" y="6595264"/>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9239979" y="7232056"/>
            <a:ext cx="6527022" cy="997842"/>
          </a:xfrm>
          <a:prstGeom prst="rect">
            <a:avLst/>
          </a:prstGeom>
        </p:spPr>
        <p:txBody>
          <a:bodyPr anchor="t" rtlCol="false" tIns="0" lIns="0" bIns="0" rIns="0">
            <a:spAutoFit/>
          </a:bodyPr>
          <a:lstStyle/>
          <a:p>
            <a:pPr algn="l" marL="0" indent="0" lvl="0">
              <a:lnSpc>
                <a:spcPts val="2000"/>
              </a:lnSpc>
            </a:pPr>
            <a:r>
              <a:rPr lang="en-US" sz="1527">
                <a:solidFill>
                  <a:srgbClr val="FFFFFF"/>
                </a:solidFill>
                <a:latin typeface="Montserrat"/>
                <a:ea typeface="Montserrat"/>
                <a:cs typeface="Montserrat"/>
                <a:sym typeface="Montserrat"/>
              </a:rPr>
              <a:t>Laminated hint cards, foam panels, LED serum vials, thematic posters, neon LED strips. Circuits are fully reusable with minimal downtime between players — maximizing throughput and minimizing operational cost.</a:t>
            </a:r>
          </a:p>
        </p:txBody>
      </p:sp>
      <p:sp>
        <p:nvSpPr>
          <p:cNvPr name="TextBox 14" id="14"/>
          <p:cNvSpPr txBox="true"/>
          <p:nvPr/>
        </p:nvSpPr>
        <p:spPr>
          <a:xfrm rot="0">
            <a:off x="9235783" y="6644477"/>
            <a:ext cx="4518846" cy="350100"/>
          </a:xfrm>
          <a:prstGeom prst="rect">
            <a:avLst/>
          </a:prstGeom>
        </p:spPr>
        <p:txBody>
          <a:bodyPr anchor="t" rtlCol="false" tIns="0" lIns="0" bIns="0" rIns="0">
            <a:spAutoFit/>
          </a:bodyPr>
          <a:lstStyle/>
          <a:p>
            <a:pPr algn="l" marL="0" indent="0" lvl="0">
              <a:lnSpc>
                <a:spcPts val="2897"/>
              </a:lnSpc>
            </a:pPr>
            <a:r>
              <a:rPr lang="en-US" b="true" sz="2211">
                <a:solidFill>
                  <a:srgbClr val="FFFFFF"/>
                </a:solidFill>
                <a:latin typeface="Montserrat Bold"/>
                <a:ea typeface="Montserrat Bold"/>
                <a:cs typeface="Montserrat Bold"/>
                <a:sym typeface="Montserrat Bold"/>
              </a:rPr>
              <a:t>Props, Ambience &amp; Reusability</a:t>
            </a:r>
          </a:p>
        </p:txBody>
      </p:sp>
      <p:grpSp>
        <p:nvGrpSpPr>
          <p:cNvPr name="Group 15" id="15"/>
          <p:cNvGrpSpPr/>
          <p:nvPr/>
        </p:nvGrpSpPr>
        <p:grpSpPr>
          <a:xfrm rot="0">
            <a:off x="2078860" y="2227269"/>
            <a:ext cx="5297646" cy="6164533"/>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blipFill>
              <a:blip r:embed="rId7"/>
              <a:stretch>
                <a:fillRect l="0" t="-36" r="0" b="-36"/>
              </a:stretch>
            </a:blipFill>
            <a:ln w="28575" cap="sq">
              <a:gradFill>
                <a:gsLst>
                  <a:gs pos="0">
                    <a:srgbClr val="FFF5E9">
                      <a:alpha val="100000"/>
                    </a:srgbClr>
                  </a:gs>
                  <a:gs pos="50000">
                    <a:srgbClr val="E7E8E4">
                      <a:alpha val="100000"/>
                    </a:srgbClr>
                  </a:gs>
                  <a:gs pos="100000">
                    <a:srgbClr val="E7E8E4">
                      <a:alpha val="0"/>
                    </a:srgbClr>
                  </a:gs>
                </a:gsLst>
                <a:lin ang="5400000"/>
              </a:gradFill>
              <a:prstDash val="solid"/>
              <a:miter/>
            </a:ln>
          </p:spPr>
        </p:sp>
      </p:grpSp>
      <p:grpSp>
        <p:nvGrpSpPr>
          <p:cNvPr name="Group 17" id="17"/>
          <p:cNvGrpSpPr/>
          <p:nvPr/>
        </p:nvGrpSpPr>
        <p:grpSpPr>
          <a:xfrm rot="0">
            <a:off x="910588" y="3784056"/>
            <a:ext cx="2336544" cy="2718887"/>
            <a:chOff x="0" y="0"/>
            <a:chExt cx="698500" cy="812800"/>
          </a:xfrm>
        </p:grpSpPr>
        <p:sp>
          <p:nvSpPr>
            <p:cNvPr name="Freeform 18" id="18"/>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blipFill>
              <a:blip r:embed="rId8"/>
              <a:stretch>
                <a:fillRect l="0" t="-36" r="0" b="-36"/>
              </a:stretch>
            </a:blipFill>
            <a:ln w="28575" cap="sq">
              <a:gradFill>
                <a:gsLst>
                  <a:gs pos="0">
                    <a:srgbClr val="FFF5E9">
                      <a:alpha val="100000"/>
                    </a:srgbClr>
                  </a:gs>
                  <a:gs pos="50000">
                    <a:srgbClr val="E7E8E4">
                      <a:alpha val="100000"/>
                    </a:srgbClr>
                  </a:gs>
                  <a:gs pos="100000">
                    <a:srgbClr val="E7E8E4">
                      <a:alpha val="0"/>
                    </a:srgbClr>
                  </a:gs>
                </a:gsLst>
                <a:lin ang="5400000"/>
              </a:gradFill>
              <a:prstDash val="solid"/>
              <a:miter/>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72800"/>
            <a:ext cx="1249152" cy="240112"/>
          </a:xfrm>
          <a:prstGeom prst="rect">
            <a:avLst/>
          </a:prstGeom>
        </p:spPr>
        <p:txBody>
          <a:bodyPr anchor="t" rtlCol="false" tIns="0" lIns="0" bIns="0" rIns="0">
            <a:spAutoFit/>
          </a:bodyPr>
          <a:lstStyle/>
          <a:p>
            <a:pPr algn="l" marL="0" indent="0" lvl="0">
              <a:lnSpc>
                <a:spcPts val="1990"/>
              </a:lnSpc>
              <a:spcBef>
                <a:spcPct val="0"/>
              </a:spcBef>
            </a:pPr>
            <a:r>
              <a:rPr lang="en-US" sz="1421">
                <a:solidFill>
                  <a:srgbClr val="FFFFFF"/>
                </a:solidFill>
                <a:latin typeface="Montserrat"/>
                <a:ea typeface="Montserrat"/>
                <a:cs typeface="Montserrat"/>
                <a:sym typeface="Montserrat"/>
              </a:rPr>
              <a:t>NEXT SLIDE</a:t>
            </a:r>
          </a:p>
        </p:txBody>
      </p:sp>
      <p:sp>
        <p:nvSpPr>
          <p:cNvPr name="TextBox 5" id="5"/>
          <p:cNvSpPr txBox="true"/>
          <p:nvPr/>
        </p:nvSpPr>
        <p:spPr>
          <a:xfrm rot="0">
            <a:off x="2887792" y="754735"/>
            <a:ext cx="1249152" cy="487762"/>
          </a:xfrm>
          <a:prstGeom prst="rect">
            <a:avLst/>
          </a:prstGeom>
        </p:spPr>
        <p:txBody>
          <a:bodyPr anchor="t" rtlCol="false" tIns="0" lIns="0" bIns="0" rIns="0">
            <a:spAutoFit/>
          </a:bodyPr>
          <a:lstStyle/>
          <a:p>
            <a:pPr algn="l" marL="0" indent="0" lvl="0">
              <a:lnSpc>
                <a:spcPts val="1990"/>
              </a:lnSpc>
            </a:pPr>
            <a:r>
              <a:rPr lang="en-US" sz="1421">
                <a:solidFill>
                  <a:srgbClr val="FFFFFF"/>
                </a:solidFill>
                <a:latin typeface="Montserrat"/>
                <a:ea typeface="Montserrat"/>
                <a:cs typeface="Montserrat"/>
                <a:sym typeface="Montserrat"/>
              </a:rPr>
              <a:t>IETE</a:t>
            </a:r>
          </a:p>
          <a:p>
            <a:pPr algn="l" marL="0" indent="0" lvl="0">
              <a:lnSpc>
                <a:spcPts val="1990"/>
              </a:lnSpc>
            </a:pPr>
            <a:r>
              <a:rPr lang="en-US" sz="1421">
                <a:solidFill>
                  <a:srgbClr val="FFFFFF"/>
                </a:solidFill>
                <a:latin typeface="Montserrat"/>
                <a:ea typeface="Montserrat"/>
                <a:cs typeface="Montserrat"/>
                <a:sym typeface="Montserrat"/>
              </a:rPr>
              <a:t>CHAPTER</a:t>
            </a:r>
          </a:p>
        </p:txBody>
      </p:sp>
      <p:sp>
        <p:nvSpPr>
          <p:cNvPr name="TextBox 6" id="6"/>
          <p:cNvSpPr txBox="true"/>
          <p:nvPr/>
        </p:nvSpPr>
        <p:spPr>
          <a:xfrm rot="0">
            <a:off x="2078860" y="9620917"/>
            <a:ext cx="1058601" cy="240112"/>
          </a:xfrm>
          <a:prstGeom prst="rect">
            <a:avLst/>
          </a:prstGeom>
        </p:spPr>
        <p:txBody>
          <a:bodyPr anchor="t" rtlCol="false" tIns="0" lIns="0" bIns="0" rIns="0">
            <a:spAutoFit/>
          </a:bodyPr>
          <a:lstStyle/>
          <a:p>
            <a:pPr algn="l" marL="0" indent="0" lvl="0">
              <a:lnSpc>
                <a:spcPts val="1990"/>
              </a:lnSpc>
              <a:spcBef>
                <a:spcPct val="0"/>
              </a:spcBef>
            </a:pPr>
            <a:r>
              <a:rPr lang="en-US" sz="1421">
                <a:solidFill>
                  <a:srgbClr val="FFFFFF"/>
                </a:solidFill>
                <a:latin typeface="Montserrat"/>
                <a:ea typeface="Montserrat"/>
                <a:cs typeface="Montserrat"/>
                <a:sym typeface="Montserrat"/>
              </a:rPr>
              <a:t>PAGE 08</a:t>
            </a:r>
          </a:p>
        </p:txBody>
      </p:sp>
      <p:sp>
        <p:nvSpPr>
          <p:cNvPr name="TextBox 7" id="7"/>
          <p:cNvSpPr txBox="true"/>
          <p:nvPr/>
        </p:nvSpPr>
        <p:spPr>
          <a:xfrm rot="0">
            <a:off x="8564999" y="2160594"/>
            <a:ext cx="6665271" cy="1104190"/>
          </a:xfrm>
          <a:prstGeom prst="rect">
            <a:avLst/>
          </a:prstGeom>
        </p:spPr>
        <p:txBody>
          <a:bodyPr anchor="t" rtlCol="false" tIns="0" lIns="0" bIns="0" rIns="0">
            <a:spAutoFit/>
          </a:bodyPr>
          <a:lstStyle/>
          <a:p>
            <a:pPr algn="l" marL="0" indent="0" lvl="0">
              <a:lnSpc>
                <a:spcPts val="8998"/>
              </a:lnSpc>
            </a:pPr>
            <a:r>
              <a:rPr lang="en-US" sz="6869">
                <a:solidFill>
                  <a:srgbClr val="FFFFFF"/>
                </a:solidFill>
                <a:latin typeface="Montserrat"/>
                <a:ea typeface="Montserrat"/>
                <a:cs typeface="Montserrat"/>
                <a:sym typeface="Montserrat"/>
              </a:rPr>
              <a:t>AUDIENCE</a:t>
            </a:r>
          </a:p>
        </p:txBody>
      </p:sp>
      <p:sp>
        <p:nvSpPr>
          <p:cNvPr name="TextBox 8" id="8"/>
          <p:cNvSpPr txBox="true"/>
          <p:nvPr/>
        </p:nvSpPr>
        <p:spPr>
          <a:xfrm rot="0">
            <a:off x="8564999" y="3009153"/>
            <a:ext cx="7728920" cy="1104190"/>
          </a:xfrm>
          <a:prstGeom prst="rect">
            <a:avLst/>
          </a:prstGeom>
        </p:spPr>
        <p:txBody>
          <a:bodyPr anchor="t" rtlCol="false" tIns="0" lIns="0" bIns="0" rIns="0">
            <a:spAutoFit/>
          </a:bodyPr>
          <a:lstStyle/>
          <a:p>
            <a:pPr algn="l" marL="0" indent="0" lvl="0">
              <a:lnSpc>
                <a:spcPts val="8998"/>
              </a:lnSpc>
            </a:pPr>
            <a:r>
              <a:rPr lang="en-US" b="true" sz="6869">
                <a:solidFill>
                  <a:srgbClr val="FFFFFF"/>
                </a:solidFill>
                <a:latin typeface="Montserrat Bold"/>
                <a:ea typeface="Montserrat Bold"/>
                <a:cs typeface="Montserrat Bold"/>
                <a:sym typeface="Montserrat Bold"/>
              </a:rPr>
              <a:t>ENGAGEMENT</a:t>
            </a:r>
          </a:p>
        </p:txBody>
      </p:sp>
      <p:sp>
        <p:nvSpPr>
          <p:cNvPr name="Freeform 9" id="9"/>
          <p:cNvSpPr/>
          <p:nvPr/>
        </p:nvSpPr>
        <p:spPr>
          <a:xfrm flipH="false" flipV="false" rot="0">
            <a:off x="8564999" y="4516131"/>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9239979" y="5162448"/>
            <a:ext cx="6527022" cy="913829"/>
          </a:xfrm>
          <a:prstGeom prst="rect">
            <a:avLst/>
          </a:prstGeom>
        </p:spPr>
        <p:txBody>
          <a:bodyPr anchor="t" rtlCol="false" tIns="0" lIns="0" bIns="0" rIns="0">
            <a:spAutoFit/>
          </a:bodyPr>
          <a:lstStyle/>
          <a:p>
            <a:pPr algn="l" marL="0" indent="0" lvl="0">
              <a:lnSpc>
                <a:spcPts val="1839"/>
              </a:lnSpc>
            </a:pPr>
            <a:r>
              <a:rPr lang="en-US" sz="1404">
                <a:solidFill>
                  <a:srgbClr val="FFFFFF"/>
                </a:solidFill>
                <a:latin typeface="Montserrat"/>
                <a:ea typeface="Montserrat"/>
                <a:cs typeface="Montserrat"/>
                <a:sym typeface="Montserrat"/>
              </a:rPr>
              <a:t>Layered difficulty with hint cards ensures access for ALL departments — ECE, CSE, Mech, and Biotech. Marketing arsenal: eye-catching queue posters bearing "NOW BEGINS THE END", immersive volunteer costumes as Complex Raiders, and thematic pass cards to drive foot traffic.</a:t>
            </a:r>
          </a:p>
        </p:txBody>
      </p:sp>
      <p:sp>
        <p:nvSpPr>
          <p:cNvPr name="TextBox 11" id="11"/>
          <p:cNvSpPr txBox="true"/>
          <p:nvPr/>
        </p:nvSpPr>
        <p:spPr>
          <a:xfrm rot="0">
            <a:off x="9235783" y="4565345"/>
            <a:ext cx="4518846" cy="324005"/>
          </a:xfrm>
          <a:prstGeom prst="rect">
            <a:avLst/>
          </a:prstGeom>
        </p:spPr>
        <p:txBody>
          <a:bodyPr anchor="t" rtlCol="false" tIns="0" lIns="0" bIns="0" rIns="0">
            <a:spAutoFit/>
          </a:bodyPr>
          <a:lstStyle/>
          <a:p>
            <a:pPr algn="l" marL="0" indent="0" lvl="0">
              <a:lnSpc>
                <a:spcPts val="2665"/>
              </a:lnSpc>
            </a:pPr>
            <a:r>
              <a:rPr lang="en-US" b="true" sz="2034">
                <a:solidFill>
                  <a:srgbClr val="FFFFFF"/>
                </a:solidFill>
                <a:latin typeface="Montserrat Bold"/>
                <a:ea typeface="Montserrat Bold"/>
                <a:cs typeface="Montserrat Bold"/>
                <a:sym typeface="Montserrat Bold"/>
              </a:rPr>
              <a:t>Inclusivity &amp; Difficulty Design</a:t>
            </a:r>
          </a:p>
        </p:txBody>
      </p:sp>
      <p:sp>
        <p:nvSpPr>
          <p:cNvPr name="Freeform 12" id="12"/>
          <p:cNvSpPr/>
          <p:nvPr/>
        </p:nvSpPr>
        <p:spPr>
          <a:xfrm flipH="false" flipV="false" rot="0">
            <a:off x="8564999" y="6595264"/>
            <a:ext cx="485278" cy="476455"/>
          </a:xfrm>
          <a:custGeom>
            <a:avLst/>
            <a:gdLst/>
            <a:ahLst/>
            <a:cxnLst/>
            <a:rect r="r" b="b" t="t" l="l"/>
            <a:pathLst>
              <a:path h="476455" w="485278">
                <a:moveTo>
                  <a:pt x="0" y="0"/>
                </a:moveTo>
                <a:lnTo>
                  <a:pt x="485278" y="0"/>
                </a:lnTo>
                <a:lnTo>
                  <a:pt x="485278" y="476455"/>
                </a:lnTo>
                <a:lnTo>
                  <a:pt x="0" y="4764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9239979" y="7241581"/>
            <a:ext cx="6527022" cy="913829"/>
          </a:xfrm>
          <a:prstGeom prst="rect">
            <a:avLst/>
          </a:prstGeom>
        </p:spPr>
        <p:txBody>
          <a:bodyPr anchor="t" rtlCol="false" tIns="0" lIns="0" bIns="0" rIns="0">
            <a:spAutoFit/>
          </a:bodyPr>
          <a:lstStyle/>
          <a:p>
            <a:pPr algn="l" marL="0" indent="0" lvl="0">
              <a:lnSpc>
                <a:spcPts val="1839"/>
              </a:lnSpc>
            </a:pPr>
            <a:r>
              <a:rPr lang="en-US" sz="1404">
                <a:solidFill>
                  <a:srgbClr val="FFFFFF"/>
                </a:solidFill>
                <a:latin typeface="Montserrat"/>
                <a:ea typeface="Montserrat"/>
                <a:cs typeface="Montserrat"/>
                <a:sym typeface="Montserrat"/>
              </a:rPr>
              <a:t>Winners and participants receive branded stickers, acrylic keychains, and reward envelopes — ensuring every Hunter leaves with a memento. High perceived value drives word-of-mouth and repeat queue engagement throughout the fest.</a:t>
            </a:r>
          </a:p>
        </p:txBody>
      </p:sp>
      <p:sp>
        <p:nvSpPr>
          <p:cNvPr name="TextBox 14" id="14"/>
          <p:cNvSpPr txBox="true"/>
          <p:nvPr/>
        </p:nvSpPr>
        <p:spPr>
          <a:xfrm rot="0">
            <a:off x="9235783" y="6644477"/>
            <a:ext cx="4518846" cy="324005"/>
          </a:xfrm>
          <a:prstGeom prst="rect">
            <a:avLst/>
          </a:prstGeom>
        </p:spPr>
        <p:txBody>
          <a:bodyPr anchor="t" rtlCol="false" tIns="0" lIns="0" bIns="0" rIns="0">
            <a:spAutoFit/>
          </a:bodyPr>
          <a:lstStyle/>
          <a:p>
            <a:pPr algn="l" marL="0" indent="0" lvl="0">
              <a:lnSpc>
                <a:spcPts val="2665"/>
              </a:lnSpc>
            </a:pPr>
            <a:r>
              <a:rPr lang="en-US" b="true" sz="2034">
                <a:solidFill>
                  <a:srgbClr val="FFFFFF"/>
                </a:solidFill>
                <a:latin typeface="Montserrat Bold"/>
                <a:ea typeface="Montserrat Bold"/>
                <a:cs typeface="Montserrat Bold"/>
                <a:sym typeface="Montserrat Bold"/>
              </a:rPr>
              <a:t>Rewards &amp; Retention</a:t>
            </a:r>
          </a:p>
        </p:txBody>
      </p:sp>
      <p:grpSp>
        <p:nvGrpSpPr>
          <p:cNvPr name="Group 15" id="15"/>
          <p:cNvGrpSpPr/>
          <p:nvPr/>
        </p:nvGrpSpPr>
        <p:grpSpPr>
          <a:xfrm rot="0">
            <a:off x="2078860" y="2227269"/>
            <a:ext cx="5297646" cy="6164533"/>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blipFill>
              <a:blip r:embed="rId7"/>
              <a:stretch>
                <a:fillRect l="0" t="-36" r="0" b="-36"/>
              </a:stretch>
            </a:blipFill>
            <a:ln w="28575" cap="sq">
              <a:gradFill>
                <a:gsLst>
                  <a:gs pos="0">
                    <a:srgbClr val="FFF5E9">
                      <a:alpha val="100000"/>
                    </a:srgbClr>
                  </a:gs>
                  <a:gs pos="50000">
                    <a:srgbClr val="E7E8E4">
                      <a:alpha val="100000"/>
                    </a:srgbClr>
                  </a:gs>
                  <a:gs pos="100000">
                    <a:srgbClr val="E7E8E4">
                      <a:alpha val="0"/>
                    </a:srgbClr>
                  </a:gs>
                </a:gsLst>
                <a:lin ang="5400000"/>
              </a:gradFill>
              <a:prstDash val="solid"/>
              <a:miter/>
            </a:ln>
          </p:spPr>
        </p:sp>
      </p:grpSp>
      <p:grpSp>
        <p:nvGrpSpPr>
          <p:cNvPr name="Group 17" id="17"/>
          <p:cNvGrpSpPr/>
          <p:nvPr/>
        </p:nvGrpSpPr>
        <p:grpSpPr>
          <a:xfrm rot="0">
            <a:off x="910588" y="3784056"/>
            <a:ext cx="2336544" cy="2718887"/>
            <a:chOff x="0" y="0"/>
            <a:chExt cx="698500" cy="812800"/>
          </a:xfrm>
        </p:grpSpPr>
        <p:sp>
          <p:nvSpPr>
            <p:cNvPr name="Freeform 18" id="18"/>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blipFill>
              <a:blip r:embed="rId8"/>
              <a:stretch>
                <a:fillRect l="-37327" t="0" r="-37327" b="0"/>
              </a:stretch>
            </a:blipFill>
            <a:ln w="28575" cap="sq">
              <a:gradFill>
                <a:gsLst>
                  <a:gs pos="0">
                    <a:srgbClr val="FFF5E9">
                      <a:alpha val="100000"/>
                    </a:srgbClr>
                  </a:gs>
                  <a:gs pos="50000">
                    <a:srgbClr val="E7E8E4">
                      <a:alpha val="100000"/>
                    </a:srgbClr>
                  </a:gs>
                  <a:gs pos="100000">
                    <a:srgbClr val="E7E8E4">
                      <a:alpha val="0"/>
                    </a:srgbClr>
                  </a:gs>
                </a:gsLst>
                <a:lin ang="5400000"/>
              </a:grad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722192" y="1807039"/>
            <a:ext cx="5238415" cy="7331115"/>
          </a:xfrm>
          <a:custGeom>
            <a:avLst/>
            <a:gdLst/>
            <a:ahLst/>
            <a:cxnLst/>
            <a:rect r="r" b="b" t="t" l="l"/>
            <a:pathLst>
              <a:path h="7331115" w="5238415">
                <a:moveTo>
                  <a:pt x="0" y="0"/>
                </a:moveTo>
                <a:lnTo>
                  <a:pt x="5238415" y="0"/>
                </a:lnTo>
                <a:lnTo>
                  <a:pt x="5238415" y="7331115"/>
                </a:lnTo>
                <a:lnTo>
                  <a:pt x="0" y="73311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8069" y="3075828"/>
            <a:ext cx="4793538" cy="479353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7"/>
              <a:stretch>
                <a:fillRect l="0" t="0" r="0" b="0"/>
              </a:stretch>
            </a:blipFill>
          </p:spPr>
        </p:sp>
      </p:grpSp>
      <p:sp>
        <p:nvSpPr>
          <p:cNvPr name="TextBox 7" id="7"/>
          <p:cNvSpPr txBox="true"/>
          <p:nvPr/>
        </p:nvSpPr>
        <p:spPr>
          <a:xfrm rot="0">
            <a:off x="16010148" y="872800"/>
            <a:ext cx="1249152" cy="231428"/>
          </a:xfrm>
          <a:prstGeom prst="rect">
            <a:avLst/>
          </a:prstGeom>
        </p:spPr>
        <p:txBody>
          <a:bodyPr anchor="t" rtlCol="false" tIns="0" lIns="0" bIns="0" rIns="0">
            <a:spAutoFit/>
          </a:bodyPr>
          <a:lstStyle/>
          <a:p>
            <a:pPr algn="l" marL="0" indent="0" lvl="0">
              <a:lnSpc>
                <a:spcPts val="1944"/>
              </a:lnSpc>
              <a:spcBef>
                <a:spcPct val="0"/>
              </a:spcBef>
            </a:pPr>
            <a:r>
              <a:rPr lang="en-US" sz="1388">
                <a:solidFill>
                  <a:srgbClr val="FFFFFF"/>
                </a:solidFill>
                <a:latin typeface="Montserrat"/>
                <a:ea typeface="Montserrat"/>
                <a:cs typeface="Montserrat"/>
                <a:sym typeface="Montserrat"/>
              </a:rPr>
              <a:t>NEXT SLIDE</a:t>
            </a:r>
          </a:p>
        </p:txBody>
      </p:sp>
      <p:sp>
        <p:nvSpPr>
          <p:cNvPr name="TextBox 8" id="8"/>
          <p:cNvSpPr txBox="true"/>
          <p:nvPr/>
        </p:nvSpPr>
        <p:spPr>
          <a:xfrm rot="0">
            <a:off x="2887792" y="754735"/>
            <a:ext cx="1249152" cy="469553"/>
          </a:xfrm>
          <a:prstGeom prst="rect">
            <a:avLst/>
          </a:prstGeom>
        </p:spPr>
        <p:txBody>
          <a:bodyPr anchor="t" rtlCol="false" tIns="0" lIns="0" bIns="0" rIns="0">
            <a:spAutoFit/>
          </a:bodyPr>
          <a:lstStyle/>
          <a:p>
            <a:pPr algn="l" marL="0" indent="0" lvl="0">
              <a:lnSpc>
                <a:spcPts val="1944"/>
              </a:lnSpc>
            </a:pPr>
            <a:r>
              <a:rPr lang="en-US" sz="1388">
                <a:solidFill>
                  <a:srgbClr val="FFFFFF"/>
                </a:solidFill>
                <a:latin typeface="Montserrat"/>
                <a:ea typeface="Montserrat"/>
                <a:cs typeface="Montserrat"/>
                <a:sym typeface="Montserrat"/>
              </a:rPr>
              <a:t>2898 A.D.</a:t>
            </a:r>
          </a:p>
          <a:p>
            <a:pPr algn="l" marL="0" indent="0" lvl="0">
              <a:lnSpc>
                <a:spcPts val="1944"/>
              </a:lnSpc>
            </a:pPr>
            <a:r>
              <a:rPr lang="en-US" sz="1388">
                <a:solidFill>
                  <a:srgbClr val="FFFFFF"/>
                </a:solidFill>
                <a:latin typeface="Montserrat"/>
                <a:ea typeface="Montserrat"/>
                <a:cs typeface="Montserrat"/>
                <a:sym typeface="Montserrat"/>
              </a:rPr>
              <a:t>SERUM HUNT</a:t>
            </a:r>
          </a:p>
        </p:txBody>
      </p:sp>
      <p:sp>
        <p:nvSpPr>
          <p:cNvPr name="TextBox 9" id="9"/>
          <p:cNvSpPr txBox="true"/>
          <p:nvPr/>
        </p:nvSpPr>
        <p:spPr>
          <a:xfrm rot="0">
            <a:off x="2078860" y="9620917"/>
            <a:ext cx="1058601" cy="231428"/>
          </a:xfrm>
          <a:prstGeom prst="rect">
            <a:avLst/>
          </a:prstGeom>
        </p:spPr>
        <p:txBody>
          <a:bodyPr anchor="t" rtlCol="false" tIns="0" lIns="0" bIns="0" rIns="0">
            <a:spAutoFit/>
          </a:bodyPr>
          <a:lstStyle/>
          <a:p>
            <a:pPr algn="l" marL="0" indent="0" lvl="0">
              <a:lnSpc>
                <a:spcPts val="1944"/>
              </a:lnSpc>
              <a:spcBef>
                <a:spcPct val="0"/>
              </a:spcBef>
            </a:pPr>
            <a:r>
              <a:rPr lang="en-US" sz="1388">
                <a:solidFill>
                  <a:srgbClr val="FFFFFF"/>
                </a:solidFill>
                <a:latin typeface="Montserrat"/>
                <a:ea typeface="Montserrat"/>
                <a:cs typeface="Montserrat"/>
                <a:sym typeface="Montserrat"/>
              </a:rPr>
              <a:t>PAGE 09</a:t>
            </a:r>
          </a:p>
        </p:txBody>
      </p:sp>
      <p:sp>
        <p:nvSpPr>
          <p:cNvPr name="TextBox 10" id="10"/>
          <p:cNvSpPr txBox="true"/>
          <p:nvPr/>
        </p:nvSpPr>
        <p:spPr>
          <a:xfrm rot="0">
            <a:off x="9016701" y="2151069"/>
            <a:ext cx="6665271" cy="1070111"/>
          </a:xfrm>
          <a:prstGeom prst="rect">
            <a:avLst/>
          </a:prstGeom>
        </p:spPr>
        <p:txBody>
          <a:bodyPr anchor="t" rtlCol="false" tIns="0" lIns="0" bIns="0" rIns="0">
            <a:spAutoFit/>
          </a:bodyPr>
          <a:lstStyle/>
          <a:p>
            <a:pPr algn="l" marL="0" indent="0" lvl="0">
              <a:lnSpc>
                <a:spcPts val="8621"/>
              </a:lnSpc>
            </a:pPr>
            <a:r>
              <a:rPr lang="en-US" sz="6581">
                <a:solidFill>
                  <a:srgbClr val="FFFFFF"/>
                </a:solidFill>
                <a:latin typeface="Montserrat"/>
                <a:ea typeface="Montserrat"/>
                <a:cs typeface="Montserrat"/>
                <a:sym typeface="Montserrat"/>
              </a:rPr>
              <a:t>CONCLUSION &amp;</a:t>
            </a:r>
          </a:p>
        </p:txBody>
      </p:sp>
      <p:sp>
        <p:nvSpPr>
          <p:cNvPr name="TextBox 11" id="11"/>
          <p:cNvSpPr txBox="true"/>
          <p:nvPr/>
        </p:nvSpPr>
        <p:spPr>
          <a:xfrm rot="0">
            <a:off x="9016701" y="3009153"/>
            <a:ext cx="7728920" cy="1104190"/>
          </a:xfrm>
          <a:prstGeom prst="rect">
            <a:avLst/>
          </a:prstGeom>
        </p:spPr>
        <p:txBody>
          <a:bodyPr anchor="t" rtlCol="false" tIns="0" lIns="0" bIns="0" rIns="0">
            <a:spAutoFit/>
          </a:bodyPr>
          <a:lstStyle/>
          <a:p>
            <a:pPr algn="l" marL="0" indent="0" lvl="0">
              <a:lnSpc>
                <a:spcPts val="8998"/>
              </a:lnSpc>
            </a:pPr>
            <a:r>
              <a:rPr lang="en-US" b="true" sz="6869">
                <a:solidFill>
                  <a:srgbClr val="FFFFFF"/>
                </a:solidFill>
                <a:latin typeface="Montserrat Bold"/>
                <a:ea typeface="Montserrat Bold"/>
                <a:cs typeface="Montserrat Bold"/>
                <a:sym typeface="Montserrat Bold"/>
              </a:rPr>
              <a:t>CALL TO ACTION</a:t>
            </a:r>
          </a:p>
        </p:txBody>
      </p:sp>
      <p:sp>
        <p:nvSpPr>
          <p:cNvPr name="TextBox 12" id="12"/>
          <p:cNvSpPr txBox="true"/>
          <p:nvPr/>
        </p:nvSpPr>
        <p:spPr>
          <a:xfrm rot="0">
            <a:off x="9016701" y="4678778"/>
            <a:ext cx="6919869" cy="3714635"/>
          </a:xfrm>
          <a:prstGeom prst="rect">
            <a:avLst/>
          </a:prstGeom>
        </p:spPr>
        <p:txBody>
          <a:bodyPr anchor="t" rtlCol="false" tIns="0" lIns="0" bIns="0" rIns="0">
            <a:spAutoFit/>
          </a:bodyPr>
          <a:lstStyle/>
          <a:p>
            <a:pPr algn="l" marL="0" indent="0" lvl="0">
              <a:lnSpc>
                <a:spcPts val="1797"/>
              </a:lnSpc>
            </a:pPr>
            <a:r>
              <a:rPr lang="en-US" sz="1371">
                <a:solidFill>
                  <a:srgbClr val="FFFFFF"/>
                </a:solidFill>
                <a:latin typeface="Montserrat"/>
                <a:ea typeface="Montserrat"/>
                <a:cs typeface="Montserrat"/>
                <a:sym typeface="Montserrat"/>
              </a:rPr>
              <a:t>WHY THIS PROPOSAL DELIVERS</a:t>
            </a:r>
          </a:p>
          <a:p>
            <a:pPr algn="l" marL="0" indent="0" lvl="0">
              <a:lnSpc>
                <a:spcPts val="1797"/>
              </a:lnSpc>
            </a:pPr>
            <a:r>
              <a:rPr lang="en-US" sz="1371">
                <a:solidFill>
                  <a:srgbClr val="FFFFFF"/>
                </a:solidFill>
                <a:latin typeface="Montserrat"/>
                <a:ea typeface="Montserrat"/>
                <a:cs typeface="Montserrat"/>
                <a:sym typeface="Montserrat"/>
              </a:rPr>
              <a:t>► Elevates the ECE stall profile at University Tech Fest, positioning it as the most immersive and talked-about experience on the floor.</a:t>
            </a:r>
          </a:p>
          <a:p>
            <a:pPr algn="l" marL="0" indent="0" lvl="0">
              <a:lnSpc>
                <a:spcPts val="1797"/>
              </a:lnSpc>
            </a:pPr>
            <a:r>
              <a:rPr lang="en-US" sz="1371">
                <a:solidFill>
                  <a:srgbClr val="FFFFFF"/>
                </a:solidFill>
                <a:latin typeface="Montserrat"/>
                <a:ea typeface="Montserrat"/>
                <a:cs typeface="Montserrat"/>
                <a:sym typeface="Montserrat"/>
              </a:rPr>
              <a:t>► Demonstrates core engineering principles — circuit logic, signal systems, binary math — in an engaging, story-driven format accessible to all departments.</a:t>
            </a:r>
          </a:p>
          <a:p>
            <a:pPr algn="l" marL="0" indent="0" lvl="0">
              <a:lnSpc>
                <a:spcPts val="1797"/>
              </a:lnSpc>
            </a:pPr>
            <a:r>
              <a:rPr lang="en-US" sz="1371">
                <a:solidFill>
                  <a:srgbClr val="FFFFFF"/>
                </a:solidFill>
                <a:latin typeface="Montserrat"/>
                <a:ea typeface="Montserrat"/>
                <a:cs typeface="Montserrat"/>
                <a:sym typeface="Montserrat"/>
              </a:rPr>
              <a:t>► Crowd-friendly throughput of 6–8 min/player ensures high turnout and sustained queue engagement throughout the event.</a:t>
            </a:r>
          </a:p>
          <a:p>
            <a:pPr algn="l" marL="0" indent="0" lvl="0">
              <a:lnSpc>
                <a:spcPts val="1797"/>
              </a:lnSpc>
            </a:pPr>
            <a:r>
              <a:rPr lang="en-US" sz="1371">
                <a:solidFill>
                  <a:srgbClr val="FFFFFF"/>
                </a:solidFill>
                <a:latin typeface="Montserrat"/>
                <a:ea typeface="Montserrat"/>
                <a:cs typeface="Montserrat"/>
                <a:sym typeface="Montserrat"/>
              </a:rPr>
              <a:t>NEXT STEPS</a:t>
            </a:r>
          </a:p>
          <a:p>
            <a:pPr algn="l" marL="0" indent="0" lvl="0">
              <a:lnSpc>
                <a:spcPts val="1797"/>
              </a:lnSpc>
            </a:pPr>
            <a:r>
              <a:rPr lang="en-US" sz="1371">
                <a:solidFill>
                  <a:srgbClr val="FFFFFF"/>
                </a:solidFill>
                <a:latin typeface="Montserrat"/>
                <a:ea typeface="Montserrat"/>
                <a:cs typeface="Montserrat"/>
                <a:sym typeface="Montserrat"/>
              </a:rPr>
              <a:t>► Approval for dedicated stall space and layout clearance from the fest organizing committee.</a:t>
            </a:r>
          </a:p>
          <a:p>
            <a:pPr algn="l" marL="0" indent="0" lvl="0">
              <a:lnSpc>
                <a:spcPts val="1797"/>
              </a:lnSpc>
            </a:pPr>
            <a:r>
              <a:rPr lang="en-US" sz="1371">
                <a:solidFill>
                  <a:srgbClr val="FFFFFF"/>
                </a:solidFill>
                <a:latin typeface="Montserrat"/>
                <a:ea typeface="Montserrat"/>
                <a:cs typeface="Montserrat"/>
                <a:sym typeface="Montserrat"/>
              </a:rPr>
              <a:t>► Budget sign-off for hardware components, props, LED ambience, and reward items.</a:t>
            </a:r>
          </a:p>
          <a:p>
            <a:pPr algn="l" marL="0" indent="0" lvl="0">
              <a:lnSpc>
                <a:spcPts val="1797"/>
              </a:lnSpc>
            </a:pPr>
            <a:r>
              <a:rPr lang="en-US" sz="1371">
                <a:solidFill>
                  <a:srgbClr val="FFFFFF"/>
                </a:solidFill>
                <a:latin typeface="Montserrat"/>
                <a:ea typeface="Montserrat"/>
                <a:cs typeface="Montserrat"/>
                <a:sym typeface="Montserrat"/>
              </a:rPr>
              <a:t>► Final venue setup coordination with volunteer briefing and dry-run testing before event day.</a:t>
            </a:r>
          </a:p>
          <a:p>
            <a:pPr algn="l" marL="0" indent="0" lvl="0">
              <a:lnSpc>
                <a:spcPts val="1797"/>
              </a:lnSpc>
            </a:pPr>
            <a:r>
              <a:rPr lang="en-US" sz="1371">
                <a:solidFill>
                  <a:srgbClr val="FFFFFF"/>
                </a:solidFill>
                <a:latin typeface="Montserrat"/>
                <a:ea typeface="Montserrat"/>
                <a:cs typeface="Montserrat"/>
                <a:sym typeface="Montserrat"/>
              </a:rPr>
              <a:t>"The Serum Hunt is not just a game — it is proof that electronics is alive, urgent, and worth pursuing."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2078860" y="697774"/>
            <a:ext cx="643333" cy="643333"/>
          </a:xfrm>
          <a:custGeom>
            <a:avLst/>
            <a:gdLst/>
            <a:ahLst/>
            <a:cxnLst/>
            <a:rect r="r" b="b" t="t" l="l"/>
            <a:pathLst>
              <a:path h="643333" w="643333">
                <a:moveTo>
                  <a:pt x="0" y="0"/>
                </a:moveTo>
                <a:lnTo>
                  <a:pt x="643332" y="0"/>
                </a:lnTo>
                <a:lnTo>
                  <a:pt x="643332" y="643332"/>
                </a:lnTo>
                <a:lnTo>
                  <a:pt x="0" y="6433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010148" y="863275"/>
            <a:ext cx="1249152"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BACK</a:t>
            </a:r>
          </a:p>
        </p:txBody>
      </p:sp>
      <p:sp>
        <p:nvSpPr>
          <p:cNvPr name="TextBox 5" id="5"/>
          <p:cNvSpPr txBox="true"/>
          <p:nvPr/>
        </p:nvSpPr>
        <p:spPr>
          <a:xfrm rot="0">
            <a:off x="2887792" y="745210"/>
            <a:ext cx="1249152" cy="550446"/>
          </a:xfrm>
          <a:prstGeom prst="rect">
            <a:avLst/>
          </a:prstGeom>
        </p:spPr>
        <p:txBody>
          <a:bodyPr anchor="t" rtlCol="false" tIns="0" lIns="0" bIns="0" rIns="0">
            <a:spAutoFit/>
          </a:bodyPr>
          <a:lstStyle/>
          <a:p>
            <a:pPr algn="l" marL="0" indent="0" lvl="0">
              <a:lnSpc>
                <a:spcPts val="2210"/>
              </a:lnSpc>
            </a:pPr>
            <a:r>
              <a:rPr lang="en-US" sz="1578">
                <a:solidFill>
                  <a:srgbClr val="FFFFFF"/>
                </a:solidFill>
                <a:latin typeface="Montserrat"/>
                <a:ea typeface="Montserrat"/>
                <a:cs typeface="Montserrat"/>
                <a:sym typeface="Montserrat"/>
              </a:rPr>
              <a:t>SERUM</a:t>
            </a:r>
          </a:p>
          <a:p>
            <a:pPr algn="l" marL="0" indent="0" lvl="0">
              <a:lnSpc>
                <a:spcPts val="2210"/>
              </a:lnSpc>
            </a:pPr>
            <a:r>
              <a:rPr lang="en-US" sz="1578">
                <a:solidFill>
                  <a:srgbClr val="FFFFFF"/>
                </a:solidFill>
                <a:latin typeface="Montserrat"/>
                <a:ea typeface="Montserrat"/>
                <a:cs typeface="Montserrat"/>
                <a:sym typeface="Montserrat"/>
              </a:rPr>
              <a:t>HUNT</a:t>
            </a:r>
          </a:p>
        </p:txBody>
      </p:sp>
      <p:sp>
        <p:nvSpPr>
          <p:cNvPr name="TextBox 6" id="6"/>
          <p:cNvSpPr txBox="true"/>
          <p:nvPr/>
        </p:nvSpPr>
        <p:spPr>
          <a:xfrm rot="0">
            <a:off x="2078860" y="9611392"/>
            <a:ext cx="1058601" cy="274221"/>
          </a:xfrm>
          <a:prstGeom prst="rect">
            <a:avLst/>
          </a:prstGeom>
        </p:spPr>
        <p:txBody>
          <a:bodyPr anchor="t" rtlCol="false" tIns="0" lIns="0" bIns="0" rIns="0">
            <a:spAutoFit/>
          </a:bodyPr>
          <a:lstStyle/>
          <a:p>
            <a:pPr algn="l" marL="0" indent="0" lvl="0">
              <a:lnSpc>
                <a:spcPts val="2210"/>
              </a:lnSpc>
              <a:spcBef>
                <a:spcPct val="0"/>
              </a:spcBef>
            </a:pPr>
            <a:r>
              <a:rPr lang="en-US" sz="1578">
                <a:solidFill>
                  <a:srgbClr val="FFFFFF"/>
                </a:solidFill>
                <a:latin typeface="Montserrat"/>
                <a:ea typeface="Montserrat"/>
                <a:cs typeface="Montserrat"/>
                <a:sym typeface="Montserrat"/>
              </a:rPr>
              <a:t>PAGE 10</a:t>
            </a:r>
          </a:p>
        </p:txBody>
      </p:sp>
      <p:sp>
        <p:nvSpPr>
          <p:cNvPr name="Freeform 7" id="7"/>
          <p:cNvSpPr/>
          <p:nvPr/>
        </p:nvSpPr>
        <p:spPr>
          <a:xfrm flipH="false" flipV="false" rot="0">
            <a:off x="3242691" y="2508067"/>
            <a:ext cx="12058460" cy="6014157"/>
          </a:xfrm>
          <a:custGeom>
            <a:avLst/>
            <a:gdLst/>
            <a:ahLst/>
            <a:cxnLst/>
            <a:rect r="r" b="b" t="t" l="l"/>
            <a:pathLst>
              <a:path h="6014157" w="12058460">
                <a:moveTo>
                  <a:pt x="0" y="0"/>
                </a:moveTo>
                <a:lnTo>
                  <a:pt x="12058460" y="0"/>
                </a:lnTo>
                <a:lnTo>
                  <a:pt x="12058460" y="6014156"/>
                </a:lnTo>
                <a:lnTo>
                  <a:pt x="0" y="6014156"/>
                </a:lnTo>
                <a:lnTo>
                  <a:pt x="0" y="0"/>
                </a:lnTo>
                <a:close/>
              </a:path>
            </a:pathLst>
          </a:custGeom>
          <a:blipFill>
            <a:blip r:embed="rId5"/>
            <a:stretch>
              <a:fillRect l="0" t="0" r="0" b="0"/>
            </a:stretch>
          </a:blipFill>
        </p:spPr>
      </p:sp>
      <p:sp>
        <p:nvSpPr>
          <p:cNvPr name="TextBox 8" id="8"/>
          <p:cNvSpPr txBox="true"/>
          <p:nvPr/>
        </p:nvSpPr>
        <p:spPr>
          <a:xfrm rot="0">
            <a:off x="4904541" y="4227242"/>
            <a:ext cx="8678407" cy="1456207"/>
          </a:xfrm>
          <a:prstGeom prst="rect">
            <a:avLst/>
          </a:prstGeom>
        </p:spPr>
        <p:txBody>
          <a:bodyPr anchor="t" rtlCol="false" tIns="0" lIns="0" bIns="0" rIns="0">
            <a:spAutoFit/>
          </a:bodyPr>
          <a:lstStyle/>
          <a:p>
            <a:pPr algn="ctr" marL="0" indent="0" lvl="0">
              <a:lnSpc>
                <a:spcPts val="11716"/>
              </a:lnSpc>
            </a:pPr>
            <a:r>
              <a:rPr lang="en-US" b="true" sz="8943">
                <a:solidFill>
                  <a:srgbClr val="FFFFFF"/>
                </a:solidFill>
                <a:latin typeface="Montserrat Bold"/>
                <a:ea typeface="Montserrat Bold"/>
                <a:cs typeface="Montserrat Bold"/>
                <a:sym typeface="Montserrat Bold"/>
              </a:rPr>
              <a:t>THANK YOU!</a:t>
            </a:r>
          </a:p>
        </p:txBody>
      </p:sp>
      <p:sp>
        <p:nvSpPr>
          <p:cNvPr name="TextBox 9" id="9"/>
          <p:cNvSpPr txBox="true"/>
          <p:nvPr/>
        </p:nvSpPr>
        <p:spPr>
          <a:xfrm rot="0">
            <a:off x="4289003" y="5781859"/>
            <a:ext cx="10163705" cy="916997"/>
          </a:xfrm>
          <a:prstGeom prst="rect">
            <a:avLst/>
          </a:prstGeom>
        </p:spPr>
        <p:txBody>
          <a:bodyPr anchor="t" rtlCol="false" tIns="0" lIns="0" bIns="0" rIns="0">
            <a:spAutoFit/>
          </a:bodyPr>
          <a:lstStyle/>
          <a:p>
            <a:pPr algn="ctr" marL="0" indent="0" lvl="0">
              <a:lnSpc>
                <a:spcPts val="2435"/>
              </a:lnSpc>
            </a:pPr>
            <a:r>
              <a:rPr lang="en-US" sz="1859">
                <a:solidFill>
                  <a:srgbClr val="FFFFFF"/>
                </a:solidFill>
                <a:latin typeface="Montserrat"/>
                <a:ea typeface="Montserrat"/>
                <a:cs typeface="Montserrat"/>
                <a:sym typeface="Montserrat"/>
              </a:rPr>
              <a:t>Thank you for your consideration. We welcome your questions.</a:t>
            </a:r>
          </a:p>
          <a:p>
            <a:pPr algn="ctr" marL="0" indent="0" lvl="0">
              <a:lnSpc>
                <a:spcPts val="2435"/>
              </a:lnSpc>
            </a:pPr>
            <a:r>
              <a:rPr lang="en-US" sz="1859">
                <a:solidFill>
                  <a:srgbClr val="FFFFFF"/>
                </a:solidFill>
                <a:latin typeface="Montserrat"/>
                <a:ea typeface="Montserrat"/>
                <a:cs typeface="Montserrat"/>
                <a:sym typeface="Montserrat"/>
              </a:rPr>
              <a:t>Contact: team.serumhunt@ece.edu  |  +91-XXXXX-XXXXX  |  IETE Chapter, ECE Department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DAHRPB7sKgI</dc:identifier>
  <dcterms:modified xsi:type="dcterms:W3CDTF">2011-08-01T06:04:30Z</dcterms:modified>
  <cp:revision>1</cp:revision>
  <dc:title>2898 A.D. Serum Hunt Proposal</dc:title>
</cp:coreProperties>
</file>